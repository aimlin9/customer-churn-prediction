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in one sentence: this is a model that predicts which telecom customers are likely to leave, built during the NexAfrica Machine Learning Internship. The talk follows the same path as the project: the business problem, the data, the models, and what the company should do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churn in plain words: customers who stop doing business with the company. The cost is bigger than the lost monthly bill, because replacing a customer is expensive and the future revenue is gone too. The model does not just say yes or no. It gives each customer a probability, so the company can rank customers and spend its retention budget on the highest risks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public Telco Customer Churn dataset: 7,043 customers and 21 columns. About one customer in four churned. That imbalance matters later. A lazy model that always predicts that a customer stays would be right about 73 percent of the time while catching no churners at all, so we judge the models on recall, precision, F1 and ROC-AUC rather than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was mostly clean, but one issue could have quietly broken things. TotalCharges was stored as text, and 11 rows held a blank space instead of a number, which a normal missing-value check does not catch. All 11 were brand-new customers with zero tenure, so no total had built up yet. Filling them with 0 is the consistent choice. The other checks, duplicates and category spelling, found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patterns stand out. Customers on month-to-month contracts churn at 42.7 percent, against 2.8 percent on two-year contracts. Electronic check payers churn at 45.3 percent. Fiber optic customers churn at 41.9 percent. Churners also leave early: their median tenure is 10 months compared with 38 for customers who stay. These are associations in the data, not proof of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engineering means creating new columns that express patterns the raw data hides. NumServices counts how many add-ons a customer has, TenureGroup bands the months of tenure, and HasInternetService flags customers who have internet at all. After that, text categories were one-hot encoded and numbers scaled. The split was 80/20 and stratified, so the churn share is the same in training and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 families, chosen to span simple to complex. Logistic regression is the easy-to-explain baseline. The decision tree is readable but can memorise the training data. The random forest combines many trees. Each one went through baseline, imbalance handling with class weights and SMOTE, and tuning with GridSearchCV or RandomizedSearchCV on five-fold stratified cross-validation.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logistic regression has the best accuracy at 0.80, but it only catches 52 percent of churners. Adding class weights lifts recall to 79 percent at the cost of accuracy, which is the trade we want because a missed churner is the costlier mistake. After tuning, the three models are within a few points on every metric. Cross-validated recall favours logistic regression, 0.802 against 0.761 for the forest, and it is the easiest to explain to a business team, so it is the final model. The tuned tree matched recall but had the lowest F1, AUC and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result. On the held-out test set there were 374 churners. The model caught 296 of them and missed 78. The price is 299 false alarms, customers flagged who would have stayed. A wasted retention offer is cheap compared with a lost customer, so this is the trade the business should want. Be honest about precision: about half of the flagged customers are real churners.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shows the logistic regression coefficients. Bars to the right raise churn risk and bars to the left lower it. Contract type and fiber optic service stand out, and long tenure protects against churn. A caution: tenure, tenure group, total charges and monthly charges move together, so the model splits credit among them. Treat the ranking as a guide to where to look, not as a measure of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action ties back to a pattern in the data. Longer contracts, automatic payment and fiber optic quality address the three biggest churn groups. Early onboarding targets the first year, when churners leave. Bundling tech support and online security lines up with a drop from about 42 percent churn to about 15 percent, though that is an association and should be piloted before a full rollout. Finally, use the model's probabilities to decide who gets an offer. Senior citizens, at 41.7 percent churn versus 23.6, are an optional segment to examine.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honestly. The model is a useful ranking tool, not a crystal ball: about half of its flags are false alarms, and the patterns are associations. One technical limitation is that scaling was fitted before the split. Next steps are to tune the decision threshold against real offer costs, try a boosted model, and run a small pilot of the retention actions.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285" dirty="0">
                <a:solidFill>
                  <a:srgbClr val="1B2430"/>
                </a:solidFill>
                <a:latin typeface="DM Sans" pitchFamily="34" charset="0"/>
                <a:ea typeface="DM Sans" pitchFamily="34" charset="-122"/>
                <a:cs typeface="DM Sans" pitchFamily="34" charset="-120"/>
              </a:defRPr>
            </a:lvl1pPr>
          </a:lstStyle>
          <a:p>
            <a:pPr algn="l" indent="0" marL="0">
              <a:lnSpc>
                <a:spcPct val="115000"/>
              </a:lnSpc>
              <a:buNone/>
            </a:pPr>
            <a:endParaRPr lang="en-US" sz="3285"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1B2430"/>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285" dirty="0">
                <a:solidFill>
                  <a:srgbClr val="1B2430"/>
                </a:solidFill>
                <a:latin typeface="DM Sans" pitchFamily="34" charset="0"/>
                <a:ea typeface="DM Sans" pitchFamily="34" charset="-122"/>
                <a:cs typeface="DM Sans" pitchFamily="34" charset="-120"/>
              </a:defRPr>
            </a:lvl1pPr>
          </a:lstStyle>
          <a:p>
            <a:pPr algn="l" indent="0" marL="0">
              <a:lnSpc>
                <a:spcPct val="115000"/>
              </a:lnSpc>
              <a:buNone/>
            </a:pPr>
            <a:endParaRPr lang="en-US" sz="3285"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1B2430"/>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EB6834"/>
                </a:solidFill>
                <a:latin typeface="DM Sans" pitchFamily="34" charset="0"/>
                <a:ea typeface="DM Sans" pitchFamily="34" charset="-122"/>
                <a:cs typeface="DM Sans" pitchFamily="34" charset="-120"/>
              </a:rPr>
              <a:t>NEXAFRICA MACHINE LEARNING INTERNSHIP</a:t>
            </a:r>
            <a:endParaRPr lang="en-US" sz="1400" dirty="0"/>
          </a:p>
        </p:txBody>
      </p:sp>
      <p:sp>
        <p:nvSpPr>
          <p:cNvPr id="3" name="Text 1"/>
          <p:cNvSpPr/>
          <p:nvPr>
            <p:ph type="title"/>
          </p:nvPr>
        </p:nvSpPr>
        <p:spPr>
          <a:xfrm>
            <a:off x="812800" y="262642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1EEE8"/>
                </a:solidFill>
                <a:latin typeface="DM Sans" pitchFamily="34" charset="0"/>
                <a:ea typeface="DM Sans" pitchFamily="34" charset="-122"/>
                <a:cs typeface="DM Sans" pitchFamily="34" charset="-120"/>
              </a:rPr>
              <a:t>Customer Churn Prediction</a:t>
            </a:r>
            <a:endParaRPr lang="en-US" sz="6000" dirty="0"/>
          </a:p>
        </p:txBody>
      </p:sp>
      <p:sp>
        <p:nvSpPr>
          <p:cNvPr id="4" name="Text 2"/>
          <p:cNvSpPr/>
          <p:nvPr/>
        </p:nvSpPr>
        <p:spPr>
          <a:xfrm>
            <a:off x="812800" y="3629720"/>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9C2CC"/>
                </a:solidFill>
                <a:latin typeface="DM Sans" pitchFamily="34" charset="0"/>
                <a:ea typeface="DM Sans" pitchFamily="34" charset="-122"/>
                <a:cs typeface="DM Sans" pitchFamily="34" charset="-120"/>
              </a:rPr>
              <a:t>Finding the customers who are about to leave, before they do</a:t>
            </a:r>
            <a:endParaRPr lang="en-US" sz="2200" dirty="0"/>
          </a:p>
        </p:txBody>
      </p:sp>
      <p:sp>
        <p:nvSpPr>
          <p:cNvPr id="5" name="Text 3"/>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1EEE8"/>
                </a:solidFill>
                <a:latin typeface="DM Sans" pitchFamily="34" charset="0"/>
                <a:ea typeface="DM Sans" pitchFamily="34" charset="-122"/>
                <a:cs typeface="DM Sans" pitchFamily="34" charset="-120"/>
              </a:rPr>
              <a:t>Gyimah Ramsey Opoku |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202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EEE8"/>
                </a:solidFill>
                <a:latin typeface="DM Sans" pitchFamily="34" charset="0"/>
                <a:ea typeface="DM Sans" pitchFamily="34" charset="-122"/>
                <a:cs typeface="DM Sans" pitchFamily="34" charset="-120"/>
              </a:rPr>
              <a:t>Losing a customer costs more than it seems</a:t>
            </a:r>
            <a:endParaRPr lang="en-US" sz="3600" dirty="0"/>
          </a:p>
        </p:txBody>
      </p:sp>
      <p:sp>
        <p:nvSpPr>
          <p:cNvPr id="3" name="Shape 1"/>
          <p:cNvSpPr/>
          <p:nvPr/>
        </p:nvSpPr>
        <p:spPr>
          <a:xfrm>
            <a:off x="812800" y="3891359"/>
            <a:ext cx="3386634" cy="1950641"/>
          </a:xfrm>
          <a:prstGeom prst="roundRect">
            <a:avLst>
              <a:gd name="adj" fmla="val 5209"/>
            </a:avLst>
          </a:prstGeom>
          <a:solidFill>
            <a:srgbClr val="1F3045"/>
          </a:solidFill>
          <a:ln/>
        </p:spPr>
      </p:sp>
      <p:sp>
        <p:nvSpPr>
          <p:cNvPr id="4" name="Text 2"/>
          <p:cNvSpPr/>
          <p:nvPr/>
        </p:nvSpPr>
        <p:spPr>
          <a:xfrm>
            <a:off x="1066800" y="4145359"/>
            <a:ext cx="296499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B6834"/>
                </a:solidFill>
                <a:latin typeface="DM Sans" pitchFamily="34" charset="0"/>
                <a:ea typeface="DM Sans" pitchFamily="34" charset="-122"/>
                <a:cs typeface="DM Sans" pitchFamily="34" charset="-120"/>
              </a:rPr>
              <a:t>Replacing is expensive</a:t>
            </a:r>
            <a:endParaRPr lang="en-US" sz="1800" dirty="0"/>
          </a:p>
        </p:txBody>
      </p:sp>
      <p:sp>
        <p:nvSpPr>
          <p:cNvPr id="5" name="Text 3"/>
          <p:cNvSpPr/>
          <p:nvPr/>
        </p:nvSpPr>
        <p:spPr>
          <a:xfrm>
            <a:off x="1066800" y="4521200"/>
            <a:ext cx="296499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5DBE2"/>
                </a:solidFill>
                <a:latin typeface="DM Sans" pitchFamily="34" charset="0"/>
                <a:ea typeface="DM Sans" pitchFamily="34" charset="-122"/>
                <a:cs typeface="DM Sans" pitchFamily="34" charset="-120"/>
              </a:rPr>
              <a:t>Winning a new customer takes marketing spend, sales time and onboarding effort.</a:t>
            </a:r>
            <a:endParaRPr lang="en-US" sz="1500" dirty="0"/>
          </a:p>
        </p:txBody>
      </p:sp>
      <p:sp>
        <p:nvSpPr>
          <p:cNvPr id="6" name="Shape 4"/>
          <p:cNvSpPr/>
          <p:nvPr/>
        </p:nvSpPr>
        <p:spPr>
          <a:xfrm>
            <a:off x="4402634" y="3891359"/>
            <a:ext cx="3386733" cy="1950641"/>
          </a:xfrm>
          <a:prstGeom prst="roundRect">
            <a:avLst>
              <a:gd name="adj" fmla="val 5209"/>
            </a:avLst>
          </a:prstGeom>
          <a:solidFill>
            <a:srgbClr val="1F3045"/>
          </a:solidFill>
          <a:ln/>
        </p:spPr>
      </p:sp>
      <p:sp>
        <p:nvSpPr>
          <p:cNvPr id="7" name="Text 5"/>
          <p:cNvSpPr/>
          <p:nvPr/>
        </p:nvSpPr>
        <p:spPr>
          <a:xfrm>
            <a:off x="4656634" y="4145359"/>
            <a:ext cx="296509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B6834"/>
                </a:solidFill>
                <a:latin typeface="DM Sans" pitchFamily="34" charset="0"/>
                <a:ea typeface="DM Sans" pitchFamily="34" charset="-122"/>
                <a:cs typeface="DM Sans" pitchFamily="34" charset="-120"/>
              </a:rPr>
              <a:t>Future revenue is lost</a:t>
            </a:r>
            <a:endParaRPr lang="en-US" sz="1800" dirty="0"/>
          </a:p>
        </p:txBody>
      </p:sp>
      <p:sp>
        <p:nvSpPr>
          <p:cNvPr id="8" name="Text 6"/>
          <p:cNvSpPr/>
          <p:nvPr/>
        </p:nvSpPr>
        <p:spPr>
          <a:xfrm>
            <a:off x="4656634" y="4521200"/>
            <a:ext cx="296509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5DBE2"/>
                </a:solidFill>
                <a:latin typeface="DM Sans" pitchFamily="34" charset="0"/>
                <a:ea typeface="DM Sans" pitchFamily="34" charset="-122"/>
                <a:cs typeface="DM Sans" pitchFamily="34" charset="-120"/>
              </a:rPr>
              <a:t>The company loses everything that customer would have paid over the rest of the relationship.</a:t>
            </a:r>
            <a:endParaRPr lang="en-US" sz="1500" dirty="0"/>
          </a:p>
        </p:txBody>
      </p:sp>
      <p:sp>
        <p:nvSpPr>
          <p:cNvPr id="9" name="Shape 7"/>
          <p:cNvSpPr/>
          <p:nvPr/>
        </p:nvSpPr>
        <p:spPr>
          <a:xfrm>
            <a:off x="7992566" y="3891359"/>
            <a:ext cx="3386634" cy="1950641"/>
          </a:xfrm>
          <a:prstGeom prst="roundRect">
            <a:avLst>
              <a:gd name="adj" fmla="val 5209"/>
            </a:avLst>
          </a:prstGeom>
          <a:solidFill>
            <a:srgbClr val="1F3045"/>
          </a:solidFill>
          <a:ln/>
        </p:spPr>
      </p:sp>
      <p:sp>
        <p:nvSpPr>
          <p:cNvPr id="10" name="Text 8"/>
          <p:cNvSpPr/>
          <p:nvPr/>
        </p:nvSpPr>
        <p:spPr>
          <a:xfrm>
            <a:off x="8246566" y="4145359"/>
            <a:ext cx="296499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B6834"/>
                </a:solidFill>
                <a:latin typeface="DM Sans" pitchFamily="34" charset="0"/>
                <a:ea typeface="DM Sans" pitchFamily="34" charset="-122"/>
                <a:cs typeface="DM Sans" pitchFamily="34" charset="-120"/>
              </a:rPr>
              <a:t>The goal of the model</a:t>
            </a:r>
            <a:endParaRPr lang="en-US" sz="1800" dirty="0"/>
          </a:p>
        </p:txBody>
      </p:sp>
      <p:sp>
        <p:nvSpPr>
          <p:cNvPr id="11" name="Text 9"/>
          <p:cNvSpPr/>
          <p:nvPr/>
        </p:nvSpPr>
        <p:spPr>
          <a:xfrm>
            <a:off x="8246566" y="4521200"/>
            <a:ext cx="2964993"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5DBE2"/>
                </a:solidFill>
                <a:latin typeface="DM Sans" pitchFamily="34" charset="0"/>
                <a:ea typeface="DM Sans" pitchFamily="34" charset="-122"/>
                <a:cs typeface="DM Sans" pitchFamily="34" charset="-120"/>
              </a:rPr>
              <a:t>Give every customer a churn probability, so retention offers go to the people most likely to leave.</a:t>
            </a:r>
            <a:endParaRPr lang="en-US" sz="15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2CC"/>
                </a:solidFill>
                <a:latin typeface="DM Sans" pitchFamily="34" charset="0"/>
                <a:ea typeface="DM Sans" pitchFamily="34" charset="-122"/>
                <a:cs typeface="DM Sans" pitchFamily="34" charset="-120"/>
              </a:rPr>
              <a:t>Customer Churn Prediction | NexAfrica ML Internship</a:t>
            </a:r>
            <a:endParaRPr lang="en-US" sz="1200" dirty="0"/>
          </a:p>
        </p:txBody>
      </p:sp>
      <p:sp>
        <p:nvSpPr>
          <p:cNvPr id="13"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2CC"/>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430"/>
                </a:solidFill>
                <a:latin typeface="DM Sans" pitchFamily="34" charset="0"/>
                <a:ea typeface="DM Sans" pitchFamily="34" charset="-122"/>
                <a:cs typeface="DM Sans" pitchFamily="34" charset="-120"/>
              </a:rPr>
              <a:t>The data: 7,043 telecom customers</a:t>
            </a:r>
            <a:endParaRPr lang="en-US" sz="3600" dirty="0"/>
          </a:p>
        </p:txBody>
      </p:sp>
      <p:sp>
        <p:nvSpPr>
          <p:cNvPr id="3" name="Shape 1"/>
          <p:cNvSpPr/>
          <p:nvPr/>
        </p:nvSpPr>
        <p:spPr>
          <a:xfrm>
            <a:off x="815975" y="2324795"/>
            <a:ext cx="3380284" cy="1939131"/>
          </a:xfrm>
          <a:prstGeom prst="roundRect">
            <a:avLst>
              <a:gd name="adj" fmla="val 5076"/>
            </a:avLst>
          </a:prstGeom>
          <a:solidFill>
            <a:srgbClr val="FFFFFF"/>
          </a:solidFill>
          <a:ln w="6350">
            <a:solidFill>
              <a:srgbClr val="E3DFD5"/>
            </a:solidFill>
            <a:prstDash val="solid"/>
          </a:ln>
        </p:spPr>
      </p:sp>
      <p:sp>
        <p:nvSpPr>
          <p:cNvPr id="4" name="Text 2"/>
          <p:cNvSpPr/>
          <p:nvPr/>
        </p:nvSpPr>
        <p:spPr>
          <a:xfrm>
            <a:off x="1073150" y="2581970"/>
            <a:ext cx="295191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2A78D6"/>
                </a:solidFill>
                <a:latin typeface="DM Sans" pitchFamily="34" charset="0"/>
                <a:ea typeface="DM Sans" pitchFamily="34" charset="-122"/>
                <a:cs typeface="DM Sans" pitchFamily="34" charset="-120"/>
              </a:rPr>
              <a:t>7,043</a:t>
            </a:r>
            <a:endParaRPr lang="en-US" sz="6000" dirty="0"/>
          </a:p>
        </p:txBody>
      </p:sp>
      <p:sp>
        <p:nvSpPr>
          <p:cNvPr id="5" name="Text 3"/>
          <p:cNvSpPr/>
          <p:nvPr/>
        </p:nvSpPr>
        <p:spPr>
          <a:xfrm>
            <a:off x="1073150" y="3458270"/>
            <a:ext cx="2951912"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C5662"/>
                </a:solidFill>
                <a:latin typeface="DM Sans" pitchFamily="34" charset="0"/>
                <a:ea typeface="DM Sans" pitchFamily="34" charset="-122"/>
                <a:cs typeface="DM Sans" pitchFamily="34" charset="-120"/>
              </a:rPr>
              <a:t>customers, one row each</a:t>
            </a:r>
            <a:endParaRPr lang="en-US" sz="1600" dirty="0"/>
          </a:p>
        </p:txBody>
      </p:sp>
      <p:sp>
        <p:nvSpPr>
          <p:cNvPr id="6" name="Shape 4"/>
          <p:cNvSpPr/>
          <p:nvPr/>
        </p:nvSpPr>
        <p:spPr>
          <a:xfrm>
            <a:off x="4405809" y="2324795"/>
            <a:ext cx="3380383" cy="1939131"/>
          </a:xfrm>
          <a:prstGeom prst="roundRect">
            <a:avLst>
              <a:gd name="adj" fmla="val 5076"/>
            </a:avLst>
          </a:prstGeom>
          <a:solidFill>
            <a:srgbClr val="FFFFFF"/>
          </a:solidFill>
          <a:ln w="6350">
            <a:solidFill>
              <a:srgbClr val="E3DFD5"/>
            </a:solidFill>
            <a:prstDash val="solid"/>
          </a:ln>
        </p:spPr>
      </p:sp>
      <p:sp>
        <p:nvSpPr>
          <p:cNvPr id="7" name="Text 5"/>
          <p:cNvSpPr/>
          <p:nvPr/>
        </p:nvSpPr>
        <p:spPr>
          <a:xfrm>
            <a:off x="4662984" y="2581970"/>
            <a:ext cx="2952014"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2A78D6"/>
                </a:solidFill>
                <a:latin typeface="DM Sans" pitchFamily="34" charset="0"/>
                <a:ea typeface="DM Sans" pitchFamily="34" charset="-122"/>
                <a:cs typeface="DM Sans" pitchFamily="34" charset="-120"/>
              </a:rPr>
              <a:t>21</a:t>
            </a:r>
            <a:endParaRPr lang="en-US" sz="6000" dirty="0"/>
          </a:p>
        </p:txBody>
      </p:sp>
      <p:sp>
        <p:nvSpPr>
          <p:cNvPr id="8" name="Text 6"/>
          <p:cNvSpPr/>
          <p:nvPr/>
        </p:nvSpPr>
        <p:spPr>
          <a:xfrm>
            <a:off x="4662984" y="3458270"/>
            <a:ext cx="2952014"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C5662"/>
                </a:solidFill>
                <a:latin typeface="DM Sans" pitchFamily="34" charset="0"/>
                <a:ea typeface="DM Sans" pitchFamily="34" charset="-122"/>
                <a:cs typeface="DM Sans" pitchFamily="34" charset="-120"/>
              </a:rPr>
              <a:t>columns: demographics, services, contract and billing</a:t>
            </a:r>
            <a:endParaRPr lang="en-US" sz="1600" dirty="0"/>
          </a:p>
        </p:txBody>
      </p:sp>
      <p:sp>
        <p:nvSpPr>
          <p:cNvPr id="9" name="Shape 7"/>
          <p:cNvSpPr/>
          <p:nvPr/>
        </p:nvSpPr>
        <p:spPr>
          <a:xfrm>
            <a:off x="7995741" y="2324795"/>
            <a:ext cx="3380284" cy="1939131"/>
          </a:xfrm>
          <a:prstGeom prst="roundRect">
            <a:avLst>
              <a:gd name="adj" fmla="val 5076"/>
            </a:avLst>
          </a:prstGeom>
          <a:solidFill>
            <a:srgbClr val="FFFFFF"/>
          </a:solidFill>
          <a:ln w="6350">
            <a:solidFill>
              <a:srgbClr val="E3DFD5"/>
            </a:solidFill>
            <a:prstDash val="solid"/>
          </a:ln>
        </p:spPr>
      </p:sp>
      <p:sp>
        <p:nvSpPr>
          <p:cNvPr id="10" name="Text 8"/>
          <p:cNvSpPr/>
          <p:nvPr/>
        </p:nvSpPr>
        <p:spPr>
          <a:xfrm>
            <a:off x="8252916" y="2581970"/>
            <a:ext cx="295191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C9501F"/>
                </a:solidFill>
                <a:latin typeface="DM Sans" pitchFamily="34" charset="0"/>
                <a:ea typeface="DM Sans" pitchFamily="34" charset="-122"/>
                <a:cs typeface="DM Sans" pitchFamily="34" charset="-120"/>
              </a:rPr>
              <a:t>26.5%</a:t>
            </a:r>
            <a:endParaRPr lang="en-US" sz="6000" dirty="0"/>
          </a:p>
        </p:txBody>
      </p:sp>
      <p:sp>
        <p:nvSpPr>
          <p:cNvPr id="11" name="Text 9"/>
          <p:cNvSpPr/>
          <p:nvPr/>
        </p:nvSpPr>
        <p:spPr>
          <a:xfrm>
            <a:off x="8252916" y="3458270"/>
            <a:ext cx="2951912"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C5662"/>
                </a:solidFill>
                <a:latin typeface="DM Sans" pitchFamily="34" charset="0"/>
                <a:ea typeface="DM Sans" pitchFamily="34" charset="-122"/>
                <a:cs typeface="DM Sans" pitchFamily="34" charset="-120"/>
              </a:rPr>
              <a:t>of customers churned, 73.5% stayed</a:t>
            </a:r>
            <a:endParaRPr lang="en-US" sz="1600" dirty="0"/>
          </a:p>
        </p:txBody>
      </p:sp>
      <p:sp>
        <p:nvSpPr>
          <p:cNvPr id="12" name="Text 10"/>
          <p:cNvSpPr/>
          <p:nvPr/>
        </p:nvSpPr>
        <p:spPr>
          <a:xfrm>
            <a:off x="812800" y="527308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0"/>
                </a:solidFill>
                <a:latin typeface="DM Sans" pitchFamily="34" charset="0"/>
                <a:ea typeface="DM Sans" pitchFamily="34" charset="-122"/>
                <a:cs typeface="DM Sans" pitchFamily="34" charset="-120"/>
              </a:rPr>
              <a:t>Target: Churn (Yes or No). With this split, a model that always says "stay" would be right 73% of the time and catch no one, so accuracy alone cannot be trusted.</a:t>
            </a:r>
            <a:endParaRPr lang="en-US" sz="16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Customer Churn Prediction | NexAfrica ML Internship</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430"/>
                </a:solidFill>
                <a:latin typeface="DM Sans" pitchFamily="34" charset="0"/>
                <a:ea typeface="DM Sans" pitchFamily="34" charset="-122"/>
                <a:cs typeface="DM Sans" pitchFamily="34" charset="-120"/>
              </a:rPr>
              <a:t>Data preparation: one hidden problem</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897360"/>
          <a:ext cx="10553700" cy="2806700"/>
        </p:xfrm>
        <a:graphic>
          <a:graphicData uri="http://schemas.openxmlformats.org/drawingml/2006/table">
            <a:tbl>
              <a:tblPr/>
              <a:tblGrid>
                <a:gridCol w="2110740"/>
                <a:gridCol w="5065776"/>
                <a:gridCol w="3377184"/>
              </a:tblGrid>
              <a:tr h="508000">
                <a:tc>
                  <a:txBody>
                    <a:bodyPr/>
                    <a:lstStyle/>
                    <a:p>
                      <a:pPr indent="0" marL="0">
                        <a:lnSpc>
                          <a:spcPts val="2100"/>
                        </a:lnSpc>
                        <a:buNone/>
                      </a:pPr>
                      <a:r>
                        <a:rPr lang="en-US" sz="1500" b="1" dirty="0">
                          <a:solidFill>
                            <a:srgbClr val="F1EEE8"/>
                          </a:solidFill>
                          <a:latin typeface="DM Sans" pitchFamily="34" charset="0"/>
                          <a:ea typeface="DM Sans" pitchFamily="34" charset="-122"/>
                          <a:cs typeface="DM Sans" pitchFamily="34" charset="-120"/>
                        </a:rPr>
                        <a:t>Check</a:t>
                      </a:r>
                      <a:endParaRPr lang="en-US" sz="1500" dirty="0">
                        <a:latin typeface="DM Sans" charset="0"/>
                        <a:ea typeface="DM Sans" charset="0"/>
                        <a:cs typeface="DM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2100"/>
                        </a:lnSpc>
                        <a:buNone/>
                      </a:pPr>
                      <a:r>
                        <a:rPr lang="en-US" sz="1500" b="1" dirty="0">
                          <a:solidFill>
                            <a:srgbClr val="F1EEE8"/>
                          </a:solidFill>
                          <a:latin typeface="DM Sans" pitchFamily="34" charset="0"/>
                          <a:ea typeface="DM Sans" pitchFamily="34" charset="-122"/>
                          <a:cs typeface="DM Sans" pitchFamily="34" charset="-120"/>
                        </a:rPr>
                        <a:t>What we found</a:t>
                      </a:r>
                      <a:endParaRPr lang="en-US" sz="1500" dirty="0">
                        <a:latin typeface="DM Sans" charset="0"/>
                        <a:ea typeface="DM Sans" charset="0"/>
                        <a:cs typeface="DM Sans" charset="0"/>
                      </a:endParaRPr>
                    </a:p>
                  </a:txBody>
                  <a:tcPr marL="152400" marR="152400" marT="114300" marB="11430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2100"/>
                        </a:lnSpc>
                        <a:buNone/>
                      </a:pPr>
                      <a:r>
                        <a:rPr lang="en-US" sz="1500" b="1" dirty="0">
                          <a:solidFill>
                            <a:srgbClr val="F1EEE8"/>
                          </a:solidFill>
                          <a:latin typeface="DM Sans" pitchFamily="34" charset="0"/>
                          <a:ea typeface="DM Sans" pitchFamily="34" charset="-122"/>
                          <a:cs typeface="DM Sans" pitchFamily="34" charset="-120"/>
                        </a:rPr>
                        <a:t>What we did</a:t>
                      </a:r>
                      <a:endParaRPr lang="en-US" sz="1500" dirty="0">
                        <a:latin typeface="DM Sans" charset="0"/>
                        <a:ea typeface="DM Sans" charset="0"/>
                        <a:cs typeface="DM Sans" charset="0"/>
                      </a:endParaRPr>
                    </a:p>
                  </a:txBody>
                  <a:tcPr marL="152400" marR="152400" marT="114300" marB="11430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r>
              <a:tr h="774700">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Missing values</a:t>
                      </a:r>
                      <a:endParaRPr lang="en-US" sz="1500" dirty="0">
                        <a:latin typeface="DM Sans" charset="0"/>
                        <a:ea typeface="DM Sans" charset="0"/>
                        <a:cs typeface="DM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TotalCharges looked complete, but 11 rows held a blank space. All were new customers with tenure 0.</a:t>
                      </a:r>
                      <a:endParaRPr lang="en-US" sz="1500" dirty="0">
                        <a:latin typeface="DM Sans" charset="0"/>
                        <a:ea typeface="DM Sans" charset="0"/>
                        <a:cs typeface="DM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Converted to numbers and filled with 0</a:t>
                      </a:r>
                      <a:endParaRPr lang="en-US" sz="1500" dirty="0">
                        <a:latin typeface="DM Sans" charset="0"/>
                        <a:ea typeface="DM Sans" charset="0"/>
                        <a:cs typeface="DM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08000">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Duplicates</a:t>
                      </a:r>
                      <a:endParaRPr lang="en-US" sz="1500" dirty="0">
                        <a:latin typeface="DM Sans" charset="0"/>
                        <a:ea typeface="DM Sans" charset="0"/>
                        <a:cs typeface="DM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None found</a:t>
                      </a:r>
                      <a:endParaRPr lang="en-US" sz="1500" dirty="0">
                        <a:latin typeface="DM Sans" charset="0"/>
                        <a:ea typeface="DM Sans" charset="0"/>
                        <a:cs typeface="DM Sans" charset="0"/>
                      </a:endParaRPr>
                    </a:p>
                  </a:txBody>
                  <a:tcPr marL="152400" marR="152400" marT="114300" marB="11430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Nothing needed</a:t>
                      </a:r>
                      <a:endParaRPr lang="en-US" sz="1500" dirty="0">
                        <a:latin typeface="DM Sans" charset="0"/>
                        <a:ea typeface="DM Sans" charset="0"/>
                        <a:cs typeface="DM Sans" charset="0"/>
                      </a:endParaRPr>
                    </a:p>
                  </a:txBody>
                  <a:tcPr marL="152400" marR="152400" marT="114300" marB="11430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508000">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Data types</a:t>
                      </a:r>
                      <a:endParaRPr lang="en-US" sz="1500" dirty="0">
                        <a:latin typeface="DM Sans" charset="0"/>
                        <a:ea typeface="DM Sans" charset="0"/>
                        <a:cs typeface="DM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TotalCharges was stored as text</a:t>
                      </a:r>
                      <a:endParaRPr lang="en-US" sz="1500" dirty="0">
                        <a:latin typeface="DM Sans" charset="0"/>
                        <a:ea typeface="DM Sans" charset="0"/>
                        <a:cs typeface="DM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Now a numeric column</a:t>
                      </a:r>
                      <a:endParaRPr lang="en-US" sz="1500" dirty="0">
                        <a:latin typeface="DM Sans" charset="0"/>
                        <a:ea typeface="DM Sans" charset="0"/>
                        <a:cs typeface="DM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08000">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Categories</a:t>
                      </a:r>
                      <a:endParaRPr lang="en-US" sz="1500" dirty="0">
                        <a:latin typeface="DM Sans" charset="0"/>
                        <a:ea typeface="DM Sans" charset="0"/>
                        <a:cs typeface="DM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No typos or spacing errors</a:t>
                      </a:r>
                      <a:endParaRPr lang="en-US" sz="1500" dirty="0">
                        <a:latin typeface="DM Sans" charset="0"/>
                        <a:ea typeface="DM Sans" charset="0"/>
                        <a:cs typeface="DM Sans" charset="0"/>
                      </a:endParaRPr>
                    </a:p>
                  </a:txBody>
                  <a:tcPr marL="152400" marR="152400" marT="114300" marB="11430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Nothing needed</a:t>
                      </a:r>
                      <a:endParaRPr lang="en-US" sz="1500" dirty="0">
                        <a:latin typeface="DM Sans" charset="0"/>
                        <a:ea typeface="DM Sans" charset="0"/>
                        <a:cs typeface="DM Sans" charset="0"/>
                      </a:endParaRPr>
                    </a:p>
                  </a:txBody>
                  <a:tcPr marL="152400" marR="152400" marT="114300" marB="11430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bl>
          </a:graphicData>
        </a:graphic>
      </p:graphicFrame>
      <p:sp>
        <p:nvSpPr>
          <p:cNvPr id="4" name="Text 1"/>
          <p:cNvSpPr/>
          <p:nvPr/>
        </p:nvSpPr>
        <p:spPr>
          <a:xfrm>
            <a:off x="812800" y="527308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C5662"/>
                </a:solidFill>
                <a:latin typeface="DM Sans" pitchFamily="34" charset="0"/>
                <a:ea typeface="DM Sans" pitchFamily="34" charset="-122"/>
                <a:cs typeface="DM Sans" pitchFamily="34" charset="-120"/>
              </a:rPr>
              <a:t>Why it matters: a standard null check reported zero missing values, so the problem stayed invisible until the column type was questioned.</a:t>
            </a:r>
            <a:endParaRPr lang="en-US" sz="1600" dirty="0"/>
          </a:p>
        </p:txBody>
      </p:sp>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Customer Churn Prediction | NexAfrica ML Internship</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Churn is concentrated in a few groups</a:t>
            </a:r>
            <a:endParaRPr lang="en-US" sz="3200" dirty="0"/>
          </a:p>
        </p:txBody>
      </p:sp>
      <p:pic>
        <p:nvPicPr>
          <p:cNvPr id="3" name="Image 0" descr="Churn rate by contract type, payment method and internet service">    </p:cNvPr>
          <p:cNvPicPr>
            <a:picLocks noChangeAspect="1"/>
          </p:cNvPicPr>
          <p:nvPr/>
        </p:nvPicPr>
        <p:blipFill>
          <a:blip r:embed="rId1"/>
          <a:srcRect l="11" r="11" t="0" b="0"/>
          <a:stretch/>
        </p:blipFill>
        <p:spPr>
          <a:xfrm>
            <a:off x="1968500" y="1641475"/>
            <a:ext cx="8255000" cy="2622550"/>
          </a:xfrm>
          <a:prstGeom prst="roundRect">
            <a:avLst>
              <a:gd name="adj" fmla="val 2906"/>
            </a:avLst>
          </a:prstGeom>
        </p:spPr>
      </p:pic>
      <p:sp>
        <p:nvSpPr>
          <p:cNvPr id="4" name="Shape 1"/>
          <p:cNvSpPr/>
          <p:nvPr/>
        </p:nvSpPr>
        <p:spPr>
          <a:xfrm>
            <a:off x="815975" y="4750495"/>
            <a:ext cx="3380284" cy="1088330"/>
          </a:xfrm>
          <a:prstGeom prst="roundRect">
            <a:avLst>
              <a:gd name="adj" fmla="val 9044"/>
            </a:avLst>
          </a:prstGeom>
          <a:solidFill>
            <a:srgbClr val="FFFFFF"/>
          </a:solidFill>
          <a:ln w="6350">
            <a:solidFill>
              <a:srgbClr val="E3DFD5"/>
            </a:solidFill>
            <a:prstDash val="solid"/>
          </a:ln>
        </p:spPr>
      </p:sp>
      <p:sp>
        <p:nvSpPr>
          <p:cNvPr id="5" name="Text 2"/>
          <p:cNvSpPr/>
          <p:nvPr/>
        </p:nvSpPr>
        <p:spPr>
          <a:xfrm>
            <a:off x="1022350" y="4880670"/>
            <a:ext cx="3056560" cy="398760"/>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C9501F"/>
                </a:solidFill>
                <a:latin typeface="DM Sans" pitchFamily="34" charset="0"/>
                <a:ea typeface="DM Sans" pitchFamily="34" charset="-122"/>
                <a:cs typeface="DM Sans" pitchFamily="34" charset="-120"/>
              </a:rPr>
              <a:t>42.7%</a:t>
            </a:r>
            <a:endParaRPr lang="en-US" sz="2800" dirty="0"/>
          </a:p>
        </p:txBody>
      </p:sp>
      <p:sp>
        <p:nvSpPr>
          <p:cNvPr id="6" name="Text 3"/>
          <p:cNvSpPr/>
          <p:nvPr/>
        </p:nvSpPr>
        <p:spPr>
          <a:xfrm>
            <a:off x="1022350" y="5279430"/>
            <a:ext cx="3056560"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C5662"/>
                </a:solidFill>
                <a:latin typeface="DM Sans" pitchFamily="34" charset="0"/>
                <a:ea typeface="DM Sans" pitchFamily="34" charset="-122"/>
                <a:cs typeface="DM Sans" pitchFamily="34" charset="-120"/>
              </a:rPr>
              <a:t>churn on month-to-month contracts, versus 2.8% on two-year</a:t>
            </a:r>
            <a:endParaRPr lang="en-US" sz="1300" dirty="0"/>
          </a:p>
        </p:txBody>
      </p:sp>
      <p:sp>
        <p:nvSpPr>
          <p:cNvPr id="7" name="Shape 4"/>
          <p:cNvSpPr/>
          <p:nvPr/>
        </p:nvSpPr>
        <p:spPr>
          <a:xfrm>
            <a:off x="4405809" y="4750495"/>
            <a:ext cx="3380383" cy="1088330"/>
          </a:xfrm>
          <a:prstGeom prst="roundRect">
            <a:avLst>
              <a:gd name="adj" fmla="val 9044"/>
            </a:avLst>
          </a:prstGeom>
          <a:solidFill>
            <a:srgbClr val="FFFFFF"/>
          </a:solidFill>
          <a:ln w="6350">
            <a:solidFill>
              <a:srgbClr val="E3DFD5"/>
            </a:solidFill>
            <a:prstDash val="solid"/>
          </a:ln>
        </p:spPr>
      </p:sp>
      <p:sp>
        <p:nvSpPr>
          <p:cNvPr id="8" name="Text 5"/>
          <p:cNvSpPr/>
          <p:nvPr/>
        </p:nvSpPr>
        <p:spPr>
          <a:xfrm>
            <a:off x="4612184" y="4880670"/>
            <a:ext cx="3056662" cy="398760"/>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C9501F"/>
                </a:solidFill>
                <a:latin typeface="DM Sans" pitchFamily="34" charset="0"/>
                <a:ea typeface="DM Sans" pitchFamily="34" charset="-122"/>
                <a:cs typeface="DM Sans" pitchFamily="34" charset="-120"/>
              </a:rPr>
              <a:t>45.3%</a:t>
            </a:r>
            <a:endParaRPr lang="en-US" sz="2800" dirty="0"/>
          </a:p>
        </p:txBody>
      </p:sp>
      <p:sp>
        <p:nvSpPr>
          <p:cNvPr id="9" name="Text 6"/>
          <p:cNvSpPr/>
          <p:nvPr/>
        </p:nvSpPr>
        <p:spPr>
          <a:xfrm>
            <a:off x="4612184" y="5279430"/>
            <a:ext cx="3170833"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C5662"/>
                </a:solidFill>
                <a:latin typeface="DM Sans" pitchFamily="34" charset="0"/>
                <a:ea typeface="DM Sans" pitchFamily="34" charset="-122"/>
                <a:cs typeface="DM Sans" pitchFamily="34" charset="-120"/>
              </a:rPr>
              <a:t>churn among electronic check payers</a:t>
            </a:r>
            <a:endParaRPr lang="en-US" sz="1300" dirty="0"/>
          </a:p>
        </p:txBody>
      </p:sp>
      <p:sp>
        <p:nvSpPr>
          <p:cNvPr id="10" name="Shape 7"/>
          <p:cNvSpPr/>
          <p:nvPr/>
        </p:nvSpPr>
        <p:spPr>
          <a:xfrm>
            <a:off x="7995741" y="4750495"/>
            <a:ext cx="3380284" cy="1088330"/>
          </a:xfrm>
          <a:prstGeom prst="roundRect">
            <a:avLst>
              <a:gd name="adj" fmla="val 9044"/>
            </a:avLst>
          </a:prstGeom>
          <a:solidFill>
            <a:srgbClr val="FFFFFF"/>
          </a:solidFill>
          <a:ln w="6350">
            <a:solidFill>
              <a:srgbClr val="E3DFD5"/>
            </a:solidFill>
            <a:prstDash val="solid"/>
          </a:ln>
        </p:spPr>
      </p:sp>
      <p:sp>
        <p:nvSpPr>
          <p:cNvPr id="11" name="Text 8"/>
          <p:cNvSpPr/>
          <p:nvPr/>
        </p:nvSpPr>
        <p:spPr>
          <a:xfrm>
            <a:off x="8202116" y="4880670"/>
            <a:ext cx="3056560" cy="398760"/>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C9501F"/>
                </a:solidFill>
                <a:latin typeface="DM Sans" pitchFamily="34" charset="0"/>
                <a:ea typeface="DM Sans" pitchFamily="34" charset="-122"/>
                <a:cs typeface="DM Sans" pitchFamily="34" charset="-120"/>
              </a:rPr>
              <a:t>41.9%</a:t>
            </a:r>
            <a:endParaRPr lang="en-US" sz="2800" dirty="0"/>
          </a:p>
        </p:txBody>
      </p:sp>
      <p:sp>
        <p:nvSpPr>
          <p:cNvPr id="12" name="Text 9"/>
          <p:cNvSpPr/>
          <p:nvPr/>
        </p:nvSpPr>
        <p:spPr>
          <a:xfrm>
            <a:off x="8202116" y="5279430"/>
            <a:ext cx="3056560"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C5662"/>
                </a:solidFill>
                <a:latin typeface="DM Sans" pitchFamily="34" charset="0"/>
                <a:ea typeface="DM Sans" pitchFamily="34" charset="-122"/>
                <a:cs typeface="DM Sans" pitchFamily="34" charset="-120"/>
              </a:rPr>
              <a:t>churn on fiber optic; churners' median tenure is 10 months versus 38</a:t>
            </a:r>
            <a:endParaRPr lang="en-US" sz="1300" dirty="0"/>
          </a:p>
        </p:txBody>
      </p:sp>
      <p:sp>
        <p:nvSpPr>
          <p:cNvPr id="13"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Customer Churn Prediction | NexAfrica ML Internship</a:t>
            </a:r>
            <a:endParaRPr lang="en-US" sz="1200" dirty="0"/>
          </a:p>
        </p:txBody>
      </p:sp>
      <p:sp>
        <p:nvSpPr>
          <p:cNvPr id="14"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430"/>
                </a:solidFill>
                <a:latin typeface="DM Sans" pitchFamily="34" charset="0"/>
                <a:ea typeface="DM Sans" pitchFamily="34" charset="-122"/>
                <a:cs typeface="DM Sans" pitchFamily="34" charset="-120"/>
              </a:rPr>
              <a:t>Three new features from existing columns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884660"/>
          <a:ext cx="10553700" cy="2832100"/>
        </p:xfrm>
        <a:graphic>
          <a:graphicData uri="http://schemas.openxmlformats.org/drawingml/2006/table">
            <a:tbl>
              <a:tblPr/>
              <a:tblGrid>
                <a:gridCol w="2321814"/>
                <a:gridCol w="4010406"/>
                <a:gridCol w="4221480"/>
              </a:tblGrid>
              <a:tr h="508000">
                <a:tc>
                  <a:txBody>
                    <a:bodyPr/>
                    <a:lstStyle/>
                    <a:p>
                      <a:pPr indent="0" marL="0">
                        <a:lnSpc>
                          <a:spcPts val="2100"/>
                        </a:lnSpc>
                        <a:buNone/>
                      </a:pPr>
                      <a:r>
                        <a:rPr lang="en-US" sz="1500" b="1" dirty="0">
                          <a:solidFill>
                            <a:srgbClr val="F1EEE8"/>
                          </a:solidFill>
                          <a:latin typeface="DM Sans" pitchFamily="34" charset="0"/>
                          <a:ea typeface="DM Sans" pitchFamily="34" charset="-122"/>
                          <a:cs typeface="DM Sans" pitchFamily="34" charset="-120"/>
                        </a:rPr>
                        <a:t>Feature</a:t>
                      </a:r>
                      <a:endParaRPr lang="en-US" sz="1500" dirty="0">
                        <a:latin typeface="DM Sans" charset="0"/>
                        <a:ea typeface="DM Sans" charset="0"/>
                        <a:cs typeface="DM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2100"/>
                        </a:lnSpc>
                        <a:buNone/>
                      </a:pPr>
                      <a:r>
                        <a:rPr lang="en-US" sz="1500" b="1" dirty="0">
                          <a:solidFill>
                            <a:srgbClr val="F1EEE8"/>
                          </a:solidFill>
                          <a:latin typeface="DM Sans" pitchFamily="34" charset="0"/>
                          <a:ea typeface="DM Sans" pitchFamily="34" charset="-122"/>
                          <a:cs typeface="DM Sans" pitchFamily="34" charset="-120"/>
                        </a:rPr>
                        <a:t>How it was built</a:t>
                      </a:r>
                      <a:endParaRPr lang="en-US" sz="1500" dirty="0">
                        <a:latin typeface="DM Sans" charset="0"/>
                        <a:ea typeface="DM Sans" charset="0"/>
                        <a:cs typeface="DM Sans" charset="0"/>
                      </a:endParaRPr>
                    </a:p>
                  </a:txBody>
                  <a:tcPr marL="152400" marR="152400" marT="114300" marB="11430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2100"/>
                        </a:lnSpc>
                        <a:buNone/>
                      </a:pPr>
                      <a:r>
                        <a:rPr lang="en-US" sz="1500" b="1" dirty="0">
                          <a:solidFill>
                            <a:srgbClr val="F1EEE8"/>
                          </a:solidFill>
                          <a:latin typeface="DM Sans" pitchFamily="34" charset="0"/>
                          <a:ea typeface="DM Sans" pitchFamily="34" charset="-122"/>
                          <a:cs typeface="DM Sans" pitchFamily="34" charset="-120"/>
                        </a:rPr>
                        <a:t>Why it helps</a:t>
                      </a:r>
                      <a:endParaRPr lang="en-US" sz="1500" dirty="0">
                        <a:latin typeface="DM Sans" charset="0"/>
                        <a:ea typeface="DM Sans" charset="0"/>
                        <a:cs typeface="DM Sans" charset="0"/>
                      </a:endParaRPr>
                    </a:p>
                  </a:txBody>
                  <a:tcPr marL="152400" marR="152400" marT="114300" marB="11430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r>
              <a:tr h="774700">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NumServices</a:t>
                      </a:r>
                      <a:endParaRPr lang="en-US" sz="1500" dirty="0">
                        <a:latin typeface="DM Sans" charset="0"/>
                        <a:ea typeface="DM Sans" charset="0"/>
                        <a:cs typeface="DM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Count of add-on services each customer uses</a:t>
                      </a:r>
                      <a:endParaRPr lang="en-US" sz="1500" dirty="0">
                        <a:latin typeface="DM Sans" charset="0"/>
                        <a:ea typeface="DM Sans" charset="0"/>
                        <a:cs typeface="DM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Captures how deeply a customer is tied to the company</a:t>
                      </a:r>
                      <a:endParaRPr lang="en-US" sz="1500" dirty="0">
                        <a:latin typeface="DM Sans" charset="0"/>
                        <a:ea typeface="DM Sans" charset="0"/>
                        <a:cs typeface="DM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774700">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TenureGroup</a:t>
                      </a:r>
                      <a:endParaRPr lang="en-US" sz="1500" dirty="0">
                        <a:latin typeface="DM Sans" charset="0"/>
                        <a:ea typeface="DM Sans" charset="0"/>
                        <a:cs typeface="DM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Tenure in months grouped into bands</a:t>
                      </a:r>
                      <a:endParaRPr lang="en-US" sz="1500" dirty="0">
                        <a:latin typeface="DM Sans" charset="0"/>
                        <a:ea typeface="DM Sans" charset="0"/>
                        <a:cs typeface="DM Sans" charset="0"/>
                      </a:endParaRPr>
                    </a:p>
                  </a:txBody>
                  <a:tcPr marL="152400" marR="152400" marT="114300" marB="11430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Lets the model see that risk changes with customer age</a:t>
                      </a:r>
                      <a:endParaRPr lang="en-US" sz="1500" dirty="0">
                        <a:latin typeface="DM Sans" charset="0"/>
                        <a:ea typeface="DM Sans" charset="0"/>
                        <a:cs typeface="DM Sans" charset="0"/>
                      </a:endParaRPr>
                    </a:p>
                  </a:txBody>
                  <a:tcPr marL="152400" marR="152400" marT="114300" marB="11430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774700">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HasInternetService</a:t>
                      </a:r>
                      <a:endParaRPr lang="en-US" sz="1500" dirty="0">
                        <a:latin typeface="DM Sans" charset="0"/>
                        <a:ea typeface="DM Sans" charset="0"/>
                        <a:cs typeface="DM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Yes or no flag from the internet service column</a:t>
                      </a:r>
                      <a:endParaRPr lang="en-US" sz="1500" dirty="0">
                        <a:latin typeface="DM Sans" charset="0"/>
                        <a:ea typeface="DM Sans" charset="0"/>
                        <a:cs typeface="DM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B2430"/>
                          </a:solidFill>
                          <a:latin typeface="DM Sans" pitchFamily="34" charset="0"/>
                          <a:ea typeface="DM Sans" pitchFamily="34" charset="-122"/>
                          <a:cs typeface="DM Sans" pitchFamily="34" charset="-120"/>
                        </a:rPr>
                        <a:t>Separates phone-only customers from the rest</a:t>
                      </a:r>
                      <a:endParaRPr lang="en-US" sz="1500" dirty="0">
                        <a:latin typeface="DM Sans" charset="0"/>
                        <a:ea typeface="DM Sans" charset="0"/>
                        <a:cs typeface="DM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4" name="Text 1"/>
          <p:cNvSpPr/>
          <p:nvPr/>
        </p:nvSpPr>
        <p:spPr>
          <a:xfrm>
            <a:off x="812800" y="527308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C5662"/>
                </a:solidFill>
                <a:latin typeface="DM Sans" pitchFamily="34" charset="0"/>
                <a:ea typeface="DM Sans" pitchFamily="34" charset="-122"/>
                <a:cs typeface="DM Sans" pitchFamily="34" charset="-120"/>
              </a:rPr>
              <a:t>Categorical columns were one-hot encoded and numeric columns scaled, so every model starts from the same 80/20 stratified split.</a:t>
            </a:r>
            <a:endParaRPr lang="en-US" sz="1600" dirty="0"/>
          </a:p>
        </p:txBody>
      </p:sp>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Customer Churn Prediction | NexAfrica ML Internship</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02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EEE8"/>
                </a:solidFill>
                <a:latin typeface="DM Sans" pitchFamily="34" charset="0"/>
                <a:ea typeface="DM Sans" pitchFamily="34" charset="-122"/>
                <a:cs typeface="DM Sans" pitchFamily="34" charset="-120"/>
              </a:rPr>
              <a:t>Three models, three stages each</a:t>
            </a:r>
            <a:endParaRPr lang="en-US" sz="3600" dirty="0"/>
          </a:p>
        </p:txBody>
      </p:sp>
      <p:sp>
        <p:nvSpPr>
          <p:cNvPr id="3" name="Shape 1"/>
          <p:cNvSpPr/>
          <p:nvPr/>
        </p:nvSpPr>
        <p:spPr>
          <a:xfrm>
            <a:off x="812800" y="2303760"/>
            <a:ext cx="3386634" cy="1981200"/>
          </a:xfrm>
          <a:prstGeom prst="roundRect">
            <a:avLst>
              <a:gd name="adj" fmla="val 5128"/>
            </a:avLst>
          </a:prstGeom>
          <a:solidFill>
            <a:srgbClr val="1F3045"/>
          </a:solidFill>
          <a:ln/>
        </p:spPr>
      </p:sp>
      <p:sp>
        <p:nvSpPr>
          <p:cNvPr id="4" name="Text 2"/>
          <p:cNvSpPr/>
          <p:nvPr/>
        </p:nvSpPr>
        <p:spPr>
          <a:xfrm>
            <a:off x="1066800" y="2557760"/>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B6834"/>
                </a:solidFill>
                <a:latin typeface="DM Sans" pitchFamily="34" charset="0"/>
                <a:ea typeface="DM Sans" pitchFamily="34" charset="-122"/>
                <a:cs typeface="DM Sans" pitchFamily="34" charset="-120"/>
              </a:rPr>
              <a:t>Logistic Regression</a:t>
            </a:r>
            <a:endParaRPr lang="en-US" sz="2000" dirty="0"/>
          </a:p>
        </p:txBody>
      </p:sp>
      <p:sp>
        <p:nvSpPr>
          <p:cNvPr id="5" name="Text 3"/>
          <p:cNvSpPr/>
          <p:nvPr/>
        </p:nvSpPr>
        <p:spPr>
          <a:xfrm>
            <a:off x="1066800" y="2964160"/>
            <a:ext cx="2964993"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5DBE2"/>
                </a:solidFill>
                <a:latin typeface="DM Sans" pitchFamily="34" charset="0"/>
                <a:ea typeface="DM Sans" pitchFamily="34" charset="-122"/>
                <a:cs typeface="DM Sans" pitchFamily="34" charset="-120"/>
              </a:rPr>
              <a:t>Simple and easy to explain. Each feature gets a weight that shows its push toward leaving or staying.</a:t>
            </a:r>
            <a:endParaRPr lang="en-US" sz="1500" dirty="0"/>
          </a:p>
        </p:txBody>
      </p:sp>
      <p:sp>
        <p:nvSpPr>
          <p:cNvPr id="6" name="Shape 4"/>
          <p:cNvSpPr/>
          <p:nvPr/>
        </p:nvSpPr>
        <p:spPr>
          <a:xfrm>
            <a:off x="4402634" y="2303760"/>
            <a:ext cx="3386733" cy="1981200"/>
          </a:xfrm>
          <a:prstGeom prst="roundRect">
            <a:avLst>
              <a:gd name="adj" fmla="val 5128"/>
            </a:avLst>
          </a:prstGeom>
          <a:solidFill>
            <a:srgbClr val="1F3045"/>
          </a:solidFill>
          <a:ln/>
        </p:spPr>
      </p:sp>
      <p:sp>
        <p:nvSpPr>
          <p:cNvPr id="7" name="Text 5"/>
          <p:cNvSpPr/>
          <p:nvPr/>
        </p:nvSpPr>
        <p:spPr>
          <a:xfrm>
            <a:off x="4656634" y="2557760"/>
            <a:ext cx="296509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B6834"/>
                </a:solidFill>
                <a:latin typeface="DM Sans" pitchFamily="34" charset="0"/>
                <a:ea typeface="DM Sans" pitchFamily="34" charset="-122"/>
                <a:cs typeface="DM Sans" pitchFamily="34" charset="-120"/>
              </a:rPr>
              <a:t>Decision Tree</a:t>
            </a:r>
            <a:endParaRPr lang="en-US" sz="2000" dirty="0"/>
          </a:p>
        </p:txBody>
      </p:sp>
      <p:sp>
        <p:nvSpPr>
          <p:cNvPr id="8" name="Text 6"/>
          <p:cNvSpPr/>
          <p:nvPr/>
        </p:nvSpPr>
        <p:spPr>
          <a:xfrm>
            <a:off x="4656634" y="2964160"/>
            <a:ext cx="296509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5DBE2"/>
                </a:solidFill>
                <a:latin typeface="DM Sans" pitchFamily="34" charset="0"/>
                <a:ea typeface="DM Sans" pitchFamily="34" charset="-122"/>
                <a:cs typeface="DM Sans" pitchFamily="34" charset="-120"/>
              </a:rPr>
              <a:t>Asks a chain of yes or no questions. Readable, but it can overfit without limits on depth.</a:t>
            </a:r>
            <a:endParaRPr lang="en-US" sz="1500" dirty="0"/>
          </a:p>
        </p:txBody>
      </p:sp>
      <p:sp>
        <p:nvSpPr>
          <p:cNvPr id="9" name="Shape 7"/>
          <p:cNvSpPr/>
          <p:nvPr/>
        </p:nvSpPr>
        <p:spPr>
          <a:xfrm>
            <a:off x="7992566" y="2303760"/>
            <a:ext cx="3386634" cy="1981200"/>
          </a:xfrm>
          <a:prstGeom prst="roundRect">
            <a:avLst>
              <a:gd name="adj" fmla="val 5128"/>
            </a:avLst>
          </a:prstGeom>
          <a:solidFill>
            <a:srgbClr val="1F3045"/>
          </a:solidFill>
          <a:ln/>
        </p:spPr>
      </p:sp>
      <p:sp>
        <p:nvSpPr>
          <p:cNvPr id="10" name="Text 8"/>
          <p:cNvSpPr/>
          <p:nvPr/>
        </p:nvSpPr>
        <p:spPr>
          <a:xfrm>
            <a:off x="8246566" y="2557760"/>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B6834"/>
                </a:solidFill>
                <a:latin typeface="DM Sans" pitchFamily="34" charset="0"/>
                <a:ea typeface="DM Sans" pitchFamily="34" charset="-122"/>
                <a:cs typeface="DM Sans" pitchFamily="34" charset="-120"/>
              </a:rPr>
              <a:t>Random Forest</a:t>
            </a:r>
            <a:endParaRPr lang="en-US" sz="2000" dirty="0"/>
          </a:p>
        </p:txBody>
      </p:sp>
      <p:sp>
        <p:nvSpPr>
          <p:cNvPr id="11" name="Text 9"/>
          <p:cNvSpPr/>
          <p:nvPr/>
        </p:nvSpPr>
        <p:spPr>
          <a:xfrm>
            <a:off x="8246566" y="2964160"/>
            <a:ext cx="296499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5DBE2"/>
                </a:solidFill>
                <a:latin typeface="DM Sans" pitchFamily="34" charset="0"/>
                <a:ea typeface="DM Sans" pitchFamily="34" charset="-122"/>
                <a:cs typeface="DM Sans" pitchFamily="34" charset="-120"/>
              </a:rPr>
              <a:t>Many trees voting together. Usually stronger and steadier, but harder to explain.</a:t>
            </a:r>
            <a:endParaRPr lang="en-US" sz="1500" dirty="0"/>
          </a:p>
        </p:txBody>
      </p:sp>
      <p:sp>
        <p:nvSpPr>
          <p:cNvPr id="12" name="Text 10"/>
          <p:cNvSpPr/>
          <p:nvPr/>
        </p:nvSpPr>
        <p:spPr>
          <a:xfrm>
            <a:off x="812800" y="527308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BE2"/>
                </a:solidFill>
                <a:latin typeface="DM Sans" pitchFamily="34" charset="0"/>
                <a:ea typeface="DM Sans" pitchFamily="34" charset="-122"/>
                <a:cs typeface="DM Sans" pitchFamily="34" charset="-120"/>
              </a:rPr>
              <a:t>Each was tested three ways: a plain baseline, with class weights to counter the 73/26 imbalance (SMOTE was also tried), and tuned with cross-validated search.</a:t>
            </a:r>
            <a:endParaRPr lang="en-US" sz="16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2CC"/>
                </a:solidFill>
                <a:latin typeface="DM Sans" pitchFamily="34" charset="0"/>
                <a:ea typeface="DM Sans" pitchFamily="34" charset="-122"/>
                <a:cs typeface="DM Sans" pitchFamily="34" charset="-120"/>
              </a:rPr>
              <a:t>Customer Churn Prediction | NexAfrica ML Internship</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2CC"/>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82203"/>
          </a:xfrm>
          <a:prstGeom prst="rect">
            <a:avLst/>
          </a:prstGeom>
          <a:noFill/>
          <a:ln/>
        </p:spPr>
        <p:txBody>
          <a:bodyPr wrap="square" lIns="0" tIns="0" rIns="0" bIns="0" rtlCol="0" anchor="t">
            <a:normAutofit/>
          </a:bodyPr>
          <a:lstStyle/>
          <a:p>
            <a:pPr algn="l" indent="0" marL="0">
              <a:lnSpc>
                <a:spcPts val="3614"/>
              </a:lnSpc>
              <a:buNone/>
            </a:pPr>
            <a:r>
              <a:rPr lang="en-US" sz="3285" b="1" i="0" dirty="0">
                <a:solidFill>
                  <a:srgbClr val="1B2430"/>
                </a:solidFill>
                <a:latin typeface="DM Sans" pitchFamily="34" charset="0"/>
                <a:ea typeface="DM Sans" pitchFamily="34" charset="-122"/>
                <a:cs typeface="DM Sans" pitchFamily="34" charset="-120"/>
              </a:rPr>
              <a:t>After tuning, the models are close</a:t>
            </a:r>
            <a:endParaRPr lang="en-US" sz="3285"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303"/>
          <a:ext cx="10553700" cy="3276501"/>
        </p:xfrm>
        <a:graphic>
          <a:graphicData uri="http://schemas.openxmlformats.org/drawingml/2006/table">
            <a:tbl>
              <a:tblPr/>
              <a:tblGrid>
                <a:gridCol w="1758950"/>
                <a:gridCol w="1758950"/>
                <a:gridCol w="1758950"/>
                <a:gridCol w="1758950"/>
                <a:gridCol w="1758950"/>
                <a:gridCol w="1758950"/>
              </a:tblGrid>
              <a:tr h="501253">
                <a:tc>
                  <a:txBody>
                    <a:bodyPr/>
                    <a:lstStyle/>
                    <a:p>
                      <a:pPr indent="0" marL="0">
                        <a:lnSpc>
                          <a:spcPts val="2021"/>
                        </a:lnSpc>
                        <a:buNone/>
                      </a:pPr>
                      <a:r>
                        <a:rPr lang="en-US" sz="1444" b="1" dirty="0">
                          <a:solidFill>
                            <a:srgbClr val="F1EEE8"/>
                          </a:solidFill>
                          <a:latin typeface="DM Sans" pitchFamily="34" charset="0"/>
                          <a:ea typeface="DM Sans" pitchFamily="34" charset="-122"/>
                          <a:cs typeface="DM Sans" pitchFamily="34" charset="-120"/>
                        </a:rPr>
                        <a:t>Model</a:t>
                      </a:r>
                      <a:endParaRPr lang="en-US" sz="1444" dirty="0">
                        <a:latin typeface="DM Sans" charset="0"/>
                        <a:ea typeface="DM Sans" charset="0"/>
                        <a:cs typeface="DM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2021"/>
                        </a:lnSpc>
                        <a:buNone/>
                      </a:pPr>
                      <a:r>
                        <a:rPr lang="en-US" sz="1444" b="1" dirty="0">
                          <a:solidFill>
                            <a:srgbClr val="F1EEE8"/>
                          </a:solidFill>
                          <a:latin typeface="DM Sans" pitchFamily="34" charset="0"/>
                          <a:ea typeface="DM Sans" pitchFamily="34" charset="-122"/>
                          <a:cs typeface="DM Sans" pitchFamily="34" charset="-120"/>
                        </a:rPr>
                        <a:t>Accuracy</a:t>
                      </a:r>
                      <a:endParaRPr lang="en-US" sz="1444" dirty="0">
                        <a:latin typeface="DM Sans" charset="0"/>
                        <a:ea typeface="DM Sans" charset="0"/>
                        <a:cs typeface="DM Sans" charset="0"/>
                      </a:endParaRPr>
                    </a:p>
                  </a:txBody>
                  <a:tcPr marL="152400" marR="152400" marT="114300" marB="11430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2021"/>
                        </a:lnSpc>
                        <a:buNone/>
                      </a:pPr>
                      <a:r>
                        <a:rPr lang="en-US" sz="1444" b="1" dirty="0">
                          <a:solidFill>
                            <a:srgbClr val="F1EEE8"/>
                          </a:solidFill>
                          <a:latin typeface="DM Sans" pitchFamily="34" charset="0"/>
                          <a:ea typeface="DM Sans" pitchFamily="34" charset="-122"/>
                          <a:cs typeface="DM Sans" pitchFamily="34" charset="-120"/>
                        </a:rPr>
                        <a:t>Precision</a:t>
                      </a:r>
                      <a:endParaRPr lang="en-US" sz="1444" dirty="0">
                        <a:latin typeface="DM Sans" charset="0"/>
                        <a:ea typeface="DM Sans" charset="0"/>
                        <a:cs typeface="DM Sans" charset="0"/>
                      </a:endParaRPr>
                    </a:p>
                  </a:txBody>
                  <a:tcPr marL="152400" marR="152400" marT="114300" marB="11430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2021"/>
                        </a:lnSpc>
                        <a:buNone/>
                      </a:pPr>
                      <a:r>
                        <a:rPr lang="en-US" sz="1444" b="1" dirty="0">
                          <a:solidFill>
                            <a:srgbClr val="F1EEE8"/>
                          </a:solidFill>
                          <a:latin typeface="DM Sans" pitchFamily="34" charset="0"/>
                          <a:ea typeface="DM Sans" pitchFamily="34" charset="-122"/>
                          <a:cs typeface="DM Sans" pitchFamily="34" charset="-120"/>
                        </a:rPr>
                        <a:t>Recall</a:t>
                      </a:r>
                      <a:endParaRPr lang="en-US" sz="1444" dirty="0">
                        <a:latin typeface="DM Sans" charset="0"/>
                        <a:ea typeface="DM Sans" charset="0"/>
                        <a:cs typeface="DM Sans" charset="0"/>
                      </a:endParaRPr>
                    </a:p>
                  </a:txBody>
                  <a:tcPr marL="152400" marR="152400" marT="114300" marB="11430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2021"/>
                        </a:lnSpc>
                        <a:buNone/>
                      </a:pPr>
                      <a:r>
                        <a:rPr lang="en-US" sz="1444" b="1" dirty="0">
                          <a:solidFill>
                            <a:srgbClr val="F1EEE8"/>
                          </a:solidFill>
                          <a:latin typeface="DM Sans" pitchFamily="34" charset="0"/>
                          <a:ea typeface="DM Sans" pitchFamily="34" charset="-122"/>
                          <a:cs typeface="DM Sans" pitchFamily="34" charset="-120"/>
                        </a:rPr>
                        <a:t>F1</a:t>
                      </a:r>
                      <a:endParaRPr lang="en-US" sz="1444" dirty="0">
                        <a:latin typeface="DM Sans" charset="0"/>
                        <a:ea typeface="DM Sans" charset="0"/>
                        <a:cs typeface="DM Sans" charset="0"/>
                      </a:endParaRPr>
                    </a:p>
                  </a:txBody>
                  <a:tcPr marL="152400" marR="152400" marT="114300" marB="11430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2021"/>
                        </a:lnSpc>
                        <a:buNone/>
                      </a:pPr>
                      <a:r>
                        <a:rPr lang="en-US" sz="1444" b="1" dirty="0">
                          <a:solidFill>
                            <a:srgbClr val="F1EEE8"/>
                          </a:solidFill>
                          <a:latin typeface="DM Sans" pitchFamily="34" charset="0"/>
                          <a:ea typeface="DM Sans" pitchFamily="34" charset="-122"/>
                          <a:cs typeface="DM Sans" pitchFamily="34" charset="-120"/>
                        </a:rPr>
                        <a:t>ROC-AUC</a:t>
                      </a:r>
                      <a:endParaRPr lang="en-US" sz="1444" dirty="0">
                        <a:latin typeface="DM Sans" charset="0"/>
                        <a:ea typeface="DM Sans" charset="0"/>
                        <a:cs typeface="DM Sans" charset="0"/>
                      </a:endParaRPr>
                    </a:p>
                  </a:txBody>
                  <a:tcPr marL="152400" marR="152400" marT="114300" marB="11430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41D28"/>
                      </a:solidFill>
                      <a:prstDash val="solid"/>
                      <a:round/>
                      <a:headEnd type="none" w="med" len="med"/>
                      <a:tailEnd type="none" w="med" len="med"/>
                    </a:lnB>
                    <a:solidFill>
                      <a:srgbClr val="14202E"/>
                    </a:solidFill>
                  </a:tcPr>
                </a:tc>
              </a:tr>
              <a:tr h="501253">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Logistic, baseline</a:t>
                      </a:r>
                      <a:endParaRPr lang="en-US" sz="1444" dirty="0">
                        <a:latin typeface="DM Sans" charset="0"/>
                        <a:ea typeface="DM Sans" charset="0"/>
                        <a:cs typeface="DM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0.800</a:t>
                      </a:r>
                      <a:endParaRPr lang="en-US" sz="1444" dirty="0">
                        <a:latin typeface="DM Sans" charset="0"/>
                        <a:ea typeface="DM Sans" charset="0"/>
                        <a:cs typeface="DM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0.655</a:t>
                      </a:r>
                      <a:endParaRPr lang="en-US" sz="1444" dirty="0">
                        <a:latin typeface="DM Sans" charset="0"/>
                        <a:ea typeface="DM Sans" charset="0"/>
                        <a:cs typeface="DM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0.519</a:t>
                      </a:r>
                      <a:endParaRPr lang="en-US" sz="1444" dirty="0">
                        <a:latin typeface="DM Sans" charset="0"/>
                        <a:ea typeface="DM Sans" charset="0"/>
                        <a:cs typeface="DM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0.579</a:t>
                      </a:r>
                      <a:endParaRPr lang="en-US" sz="1444" dirty="0">
                        <a:latin typeface="DM Sans" charset="0"/>
                        <a:ea typeface="DM Sans" charset="0"/>
                        <a:cs typeface="DM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0.842</a:t>
                      </a:r>
                      <a:endParaRPr lang="en-US" sz="1444" dirty="0">
                        <a:latin typeface="DM Sans" charset="0"/>
                        <a:ea typeface="DM Sans" charset="0"/>
                        <a:cs typeface="DM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757932">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Logistic, class-weighted</a:t>
                      </a:r>
                      <a:endParaRPr lang="en-US" sz="1444" dirty="0">
                        <a:latin typeface="DM Sans" charset="0"/>
                        <a:ea typeface="DM Sans" charset="0"/>
                        <a:cs typeface="DM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0.732</a:t>
                      </a:r>
                      <a:endParaRPr lang="en-US" sz="1444" dirty="0">
                        <a:latin typeface="DM Sans" charset="0"/>
                        <a:ea typeface="DM Sans" charset="0"/>
                        <a:cs typeface="DM Sans" charset="0"/>
                      </a:endParaRPr>
                    </a:p>
                  </a:txBody>
                  <a:tcPr marL="152400" marR="152400" marT="114300" marB="11430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0.498</a:t>
                      </a:r>
                      <a:endParaRPr lang="en-US" sz="1444" dirty="0">
                        <a:latin typeface="DM Sans" charset="0"/>
                        <a:ea typeface="DM Sans" charset="0"/>
                        <a:cs typeface="DM Sans" charset="0"/>
                      </a:endParaRPr>
                    </a:p>
                  </a:txBody>
                  <a:tcPr marL="152400" marR="152400" marT="114300" marB="11430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2021"/>
                        </a:lnSpc>
                        <a:buNone/>
                      </a:pPr>
                      <a:r>
                        <a:rPr lang="en-US" sz="1444" dirty="0">
                          <a:solidFill>
                            <a:srgbClr val="C9501F"/>
                          </a:solidFill>
                          <a:latin typeface="DM Sans" pitchFamily="34" charset="0"/>
                          <a:ea typeface="DM Sans" pitchFamily="34" charset="-122"/>
                          <a:cs typeface="DM Sans" pitchFamily="34" charset="-120"/>
                        </a:rPr>
                        <a:t>0.791</a:t>
                      </a:r>
                      <a:endParaRPr lang="en-US" sz="1444" dirty="0">
                        <a:latin typeface="DM Sans" charset="0"/>
                        <a:ea typeface="DM Sans" charset="0"/>
                        <a:cs typeface="DM Sans" charset="0"/>
                      </a:endParaRPr>
                    </a:p>
                  </a:txBody>
                  <a:tcPr marL="152400" marR="152400" marT="114300" marB="11430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0.611</a:t>
                      </a:r>
                      <a:endParaRPr lang="en-US" sz="1444" dirty="0">
                        <a:latin typeface="DM Sans" charset="0"/>
                        <a:ea typeface="DM Sans" charset="0"/>
                        <a:cs typeface="DM Sans" charset="0"/>
                      </a:endParaRPr>
                    </a:p>
                  </a:txBody>
                  <a:tcPr marL="152400" marR="152400" marT="114300" marB="11430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0.842</a:t>
                      </a:r>
                      <a:endParaRPr lang="en-US" sz="1444" dirty="0">
                        <a:latin typeface="DM Sans" charset="0"/>
                        <a:ea typeface="DM Sans" charset="0"/>
                        <a:cs typeface="DM Sans" charset="0"/>
                      </a:endParaRPr>
                    </a:p>
                  </a:txBody>
                  <a:tcPr marL="152400" marR="152400" marT="114300" marB="11430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758031">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Decision Tree, tuned</a:t>
                      </a:r>
                      <a:endParaRPr lang="en-US" sz="1444" dirty="0">
                        <a:latin typeface="DM Sans" charset="0"/>
                        <a:ea typeface="DM Sans" charset="0"/>
                        <a:cs typeface="DM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0.742</a:t>
                      </a:r>
                      <a:endParaRPr lang="en-US" sz="1444" dirty="0">
                        <a:latin typeface="DM Sans" charset="0"/>
                        <a:ea typeface="DM Sans" charset="0"/>
                        <a:cs typeface="DM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0.509</a:t>
                      </a:r>
                      <a:endParaRPr lang="en-US" sz="1444" dirty="0">
                        <a:latin typeface="DM Sans" charset="0"/>
                        <a:ea typeface="DM Sans" charset="0"/>
                        <a:cs typeface="DM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0.810</a:t>
                      </a:r>
                      <a:endParaRPr lang="en-US" sz="1444" dirty="0">
                        <a:latin typeface="DM Sans" charset="0"/>
                        <a:ea typeface="DM Sans" charset="0"/>
                        <a:cs typeface="DM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0.625</a:t>
                      </a:r>
                      <a:endParaRPr lang="en-US" sz="1444" dirty="0">
                        <a:latin typeface="DM Sans" charset="0"/>
                        <a:ea typeface="DM Sans" charset="0"/>
                        <a:cs typeface="DM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0.838</a:t>
                      </a:r>
                      <a:endParaRPr lang="en-US" sz="1444" dirty="0">
                        <a:latin typeface="DM Sans" charset="0"/>
                        <a:ea typeface="DM Sans" charset="0"/>
                        <a:cs typeface="DM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758031">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Random Forest, tuned</a:t>
                      </a:r>
                      <a:endParaRPr lang="en-US" sz="1444" dirty="0">
                        <a:latin typeface="DM Sans" charset="0"/>
                        <a:ea typeface="DM Sans" charset="0"/>
                        <a:cs typeface="DM Sans" charset="0"/>
                      </a:endParaRPr>
                    </a:p>
                  </a:txBody>
                  <a:tcPr marL="152400" marR="152400" marT="114300" marB="11430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0.753</a:t>
                      </a:r>
                      <a:endParaRPr lang="en-US" sz="1444" dirty="0">
                        <a:latin typeface="DM Sans" charset="0"/>
                        <a:ea typeface="DM Sans" charset="0"/>
                        <a:cs typeface="DM Sans" charset="0"/>
                      </a:endParaRPr>
                    </a:p>
                  </a:txBody>
                  <a:tcPr marL="152400" marR="152400" marT="114300" marB="11430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0.523</a:t>
                      </a:r>
                      <a:endParaRPr lang="en-US" sz="1444" dirty="0">
                        <a:latin typeface="DM Sans" charset="0"/>
                        <a:ea typeface="DM Sans" charset="0"/>
                        <a:cs typeface="DM Sans" charset="0"/>
                      </a:endParaRPr>
                    </a:p>
                  </a:txBody>
                  <a:tcPr marL="152400" marR="152400" marT="114300" marB="11430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0.781</a:t>
                      </a:r>
                      <a:endParaRPr lang="en-US" sz="1444" dirty="0">
                        <a:latin typeface="DM Sans" charset="0"/>
                        <a:ea typeface="DM Sans" charset="0"/>
                        <a:cs typeface="DM Sans" charset="0"/>
                      </a:endParaRPr>
                    </a:p>
                  </a:txBody>
                  <a:tcPr marL="152400" marR="152400" marT="114300" marB="11430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0.627</a:t>
                      </a:r>
                      <a:endParaRPr lang="en-US" sz="1444" dirty="0">
                        <a:latin typeface="DM Sans" charset="0"/>
                        <a:ea typeface="DM Sans" charset="0"/>
                        <a:cs typeface="DM Sans" charset="0"/>
                      </a:endParaRPr>
                    </a:p>
                  </a:txBody>
                  <a:tcPr marL="152400" marR="152400" marT="114300" marB="11430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2021"/>
                        </a:lnSpc>
                        <a:buNone/>
                      </a:pPr>
                      <a:r>
                        <a:rPr lang="en-US" sz="1444" dirty="0">
                          <a:solidFill>
                            <a:srgbClr val="1B2430"/>
                          </a:solidFill>
                          <a:latin typeface="DM Sans" pitchFamily="34" charset="0"/>
                          <a:ea typeface="DM Sans" pitchFamily="34" charset="-122"/>
                          <a:cs typeface="DM Sans" pitchFamily="34" charset="-120"/>
                        </a:rPr>
                        <a:t>0.842</a:t>
                      </a:r>
                      <a:endParaRPr lang="en-US" sz="1444" dirty="0">
                        <a:latin typeface="DM Sans" charset="0"/>
                        <a:ea typeface="DM Sans" charset="0"/>
                        <a:cs typeface="DM Sans" charset="0"/>
                      </a:endParaRPr>
                    </a:p>
                  </a:txBody>
                  <a:tcPr marL="152400" marR="152400" marT="114300" marB="11430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bl>
          </a:graphicData>
        </a:graphic>
      </p:graphicFrame>
      <p:sp>
        <p:nvSpPr>
          <p:cNvPr id="4" name="Text 1"/>
          <p:cNvSpPr/>
          <p:nvPr/>
        </p:nvSpPr>
        <p:spPr>
          <a:xfrm>
            <a:off x="812800" y="5066804"/>
            <a:ext cx="10883392" cy="800596"/>
          </a:xfrm>
          <a:prstGeom prst="rect">
            <a:avLst/>
          </a:prstGeom>
          <a:noFill/>
          <a:ln/>
        </p:spPr>
        <p:txBody>
          <a:bodyPr wrap="square" lIns="0" tIns="0" rIns="0" bIns="0" rtlCol="0" anchor="t">
            <a:normAutofit/>
          </a:bodyPr>
          <a:lstStyle/>
          <a:p>
            <a:pPr algn="l" indent="0" marL="0">
              <a:lnSpc>
                <a:spcPts val="2037"/>
              </a:lnSpc>
              <a:buNone/>
            </a:pPr>
            <a:r>
              <a:rPr lang="en-US" sz="1455" dirty="0">
                <a:solidFill>
                  <a:srgbClr val="4C5662"/>
                </a:solidFill>
                <a:latin typeface="DM Sans" pitchFamily="34" charset="0"/>
                <a:ea typeface="DM Sans" pitchFamily="34" charset="-122"/>
                <a:cs typeface="DM Sans" pitchFamily="34" charset="-120"/>
              </a:rPr>
              <a:t>Accuracy drops when recall rises, and that is the right trade: missing a churner costs more than a wasted offer. With scores this close, the choice rests on stable recall in cross-validation (0.80 for logistic versus 0.76 for the forest) and on how easily the model can be explained.</a:t>
            </a:r>
            <a:endParaRPr lang="en-US" sz="1455" dirty="0"/>
          </a:p>
        </p:txBody>
      </p:sp>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Customer Churn Prediction | NexAfrica ML Internship</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02E"/>
        </a:solidFill>
      </p:bgPr>
    </p:bg>
    <p:spTree>
      <p:nvGrpSpPr>
        <p:cNvPr id="1" name=""/>
        <p:cNvGrpSpPr/>
        <p:nvPr/>
      </p:nvGrpSpPr>
      <p:grpSpPr>
        <a:xfrm>
          <a:off x="0" y="0"/>
          <a:ext cx="0" cy="0"/>
          <a:chOff x="0" y="0"/>
          <a:chExt cx="0" cy="0"/>
        </a:xfrm>
      </p:grpSpPr>
      <p:sp>
        <p:nvSpPr>
          <p:cNvPr id="2" name="Text 0"/>
          <p:cNvSpPr/>
          <p:nvPr/>
        </p:nvSpPr>
        <p:spPr>
          <a:xfrm>
            <a:off x="812800" y="1755279"/>
            <a:ext cx="5958396" cy="523081"/>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EB6834"/>
                </a:solidFill>
                <a:latin typeface="DM Sans" pitchFamily="34" charset="0"/>
                <a:ea typeface="DM Sans" pitchFamily="34" charset="-122"/>
                <a:cs typeface="DM Sans" pitchFamily="34" charset="-120"/>
              </a:rPr>
              <a:t>FINAL MODEL: CLASS-WEIGHTED LOGISTIC REGRESSION</a:t>
            </a:r>
            <a:endParaRPr lang="en-US" sz="1400" dirty="0"/>
          </a:p>
        </p:txBody>
      </p:sp>
      <p:sp>
        <p:nvSpPr>
          <p:cNvPr id="3" name="Text 1"/>
          <p:cNvSpPr/>
          <p:nvPr>
            <p:ph type="title"/>
          </p:nvPr>
        </p:nvSpPr>
        <p:spPr>
          <a:xfrm>
            <a:off x="812800" y="2456160"/>
            <a:ext cx="5958396" cy="130552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1EEE8"/>
                </a:solidFill>
                <a:latin typeface="DM Sans" pitchFamily="34" charset="0"/>
                <a:ea typeface="DM Sans" pitchFamily="34" charset="-122"/>
                <a:cs typeface="DM Sans" pitchFamily="34" charset="-120"/>
              </a:rPr>
              <a:t>Recall rose from 52% to 79%</a:t>
            </a:r>
            <a:endParaRPr lang="en-US" sz="4800" dirty="0"/>
          </a:p>
        </p:txBody>
      </p:sp>
      <p:sp>
        <p:nvSpPr>
          <p:cNvPr id="4" name="Text 2"/>
          <p:cNvSpPr/>
          <p:nvPr/>
        </p:nvSpPr>
        <p:spPr>
          <a:xfrm>
            <a:off x="812800" y="3939480"/>
            <a:ext cx="5958396" cy="98534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D5DBE2"/>
                </a:solidFill>
                <a:latin typeface="DM Sans" pitchFamily="34" charset="0"/>
                <a:ea typeface="DM Sans" pitchFamily="34" charset="-122"/>
                <a:cs typeface="DM Sans" pitchFamily="34" charset="-120"/>
              </a:rPr>
              <a:t>Of 374 customers who churned in the test set, the model caught 296 and missed 78. It raised 299 false alarms among customers who stayed.</a:t>
            </a:r>
            <a:endParaRPr lang="en-US" sz="1800" dirty="0"/>
          </a:p>
        </p:txBody>
      </p:sp>
      <p:pic>
        <p:nvPicPr>
          <p:cNvPr id="5" name="Image 0" descr="Confusion matrix of the final model on the test set">    </p:cNvPr>
          <p:cNvPicPr>
            <a:picLocks noChangeAspect="1"/>
          </p:cNvPicPr>
          <p:nvPr/>
        </p:nvPicPr>
        <p:blipFill>
          <a:blip r:embed="rId1"/>
          <a:srcRect l="2" r="2" t="0" b="0"/>
          <a:stretch/>
        </p:blipFill>
        <p:spPr>
          <a:xfrm>
            <a:off x="7004050" y="1549400"/>
            <a:ext cx="4375150" cy="3556000"/>
          </a:xfrm>
          <a:prstGeom prst="roundRect">
            <a:avLst>
              <a:gd name="adj" fmla="val 2143"/>
            </a:avLst>
          </a:prstGeom>
        </p:spPr>
      </p:pic>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2CC"/>
                </a:solidFill>
                <a:latin typeface="DM Sans" pitchFamily="34" charset="0"/>
                <a:ea typeface="DM Sans" pitchFamily="34" charset="-122"/>
                <a:cs typeface="DM Sans" pitchFamily="34" charset="-120"/>
              </a:rPr>
              <a:t>Customer Churn Prediction | NexAfrica ML Internship</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2CC"/>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1732359"/>
            <a:ext cx="5422075"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What the model pays attention to</a:t>
            </a:r>
            <a:endParaRPr lang="en-US" sz="3200" dirty="0"/>
          </a:p>
        </p:txBody>
      </p:sp>
      <p:sp>
        <p:nvSpPr>
          <p:cNvPr id="3" name="Text 1"/>
          <p:cNvSpPr/>
          <p:nvPr/>
        </p:nvSpPr>
        <p:spPr>
          <a:xfrm>
            <a:off x="876808" y="2829520"/>
            <a:ext cx="5350447" cy="2016621"/>
          </a:xfrm>
          <a:prstGeom prst="rect">
            <a:avLst/>
          </a:prstGeom>
          <a:noFill/>
          <a:ln/>
        </p:spPr>
        <p:txBody>
          <a:bodyPr wrap="square" lIns="0" tIns="0" rIns="0" bIns="0" rtlCol="0" anchor="t">
            <a:normAutofit/>
          </a:bodyPr>
          <a:lstStyle/>
          <a:p>
            <a:pPr algn="l" marL="189992" indent="-189992">
              <a:lnSpc>
                <a:spcPts val="2240"/>
              </a:lnSpc>
              <a:buSzPct val="100000"/>
              <a:buChar char="•"/>
            </a:pPr>
            <a:r>
              <a:rPr lang="en-US" sz="1600" dirty="0">
                <a:solidFill>
                  <a:srgbClr val="1B2430"/>
                </a:solidFill>
                <a:latin typeface="DM Sans" pitchFamily="34" charset="0"/>
                <a:ea typeface="DM Sans" pitchFamily="34" charset="-122"/>
                <a:cs typeface="DM Sans" pitchFamily="34" charset="-120"/>
              </a:rPr>
              <a:t>Contract length and fiber optic internet carry the largest weights toward churn.</a:t>
            </a:r>
            <a:endParaRPr lang="en-US" sz="1600" dirty="0"/>
          </a:p>
          <a:p>
            <a:pPr algn="l" marL="189992" indent="-189992">
              <a:lnSpc>
                <a:spcPts val="2240"/>
              </a:lnSpc>
              <a:buSzPct val="100000"/>
              <a:buChar char="•"/>
            </a:pPr>
            <a:r>
              <a:rPr lang="en-US" sz="1600" dirty="0">
                <a:solidFill>
                  <a:srgbClr val="1B2430"/>
                </a:solidFill>
                <a:latin typeface="DM Sans" pitchFamily="34" charset="0"/>
                <a:ea typeface="DM Sans" pitchFamily="34" charset="-122"/>
                <a:cs typeface="DM Sans" pitchFamily="34" charset="-120"/>
              </a:rPr>
              <a:t>Longer tenure and two-year contracts push strongly toward staying.</a:t>
            </a:r>
            <a:endParaRPr lang="en-US" sz="1600" dirty="0"/>
          </a:p>
          <a:p>
            <a:pPr algn="l" marL="189992" indent="-189992">
              <a:lnSpc>
                <a:spcPts val="2240"/>
              </a:lnSpc>
              <a:buSzPct val="100000"/>
              <a:buChar char="•"/>
            </a:pPr>
            <a:r>
              <a:rPr lang="en-US" sz="1600" dirty="0">
                <a:solidFill>
                  <a:srgbClr val="1B2430"/>
                </a:solidFill>
                <a:latin typeface="DM Sans" pitchFamily="34" charset="0"/>
                <a:ea typeface="DM Sans" pitchFamily="34" charset="-122"/>
                <a:cs typeface="DM Sans" pitchFamily="34" charset="-120"/>
              </a:rPr>
              <a:t>Tenure, total charges and monthly charges overlap, so their individual weights should be read with care.</a:t>
            </a:r>
            <a:endParaRPr lang="en-US" sz="1600" dirty="0"/>
          </a:p>
          <a:p>
            <a:pPr algn="l" marL="189992" indent="-189992">
              <a:lnSpc>
                <a:spcPts val="2240"/>
              </a:lnSpc>
              <a:buSzPct val="100000"/>
              <a:buChar char="•"/>
            </a:pPr>
            <a:r>
              <a:rPr lang="en-US" sz="1600" dirty="0">
                <a:solidFill>
                  <a:srgbClr val="1B2430"/>
                </a:solidFill>
                <a:latin typeface="DM Sans" pitchFamily="34" charset="0"/>
                <a:ea typeface="DM Sans" pitchFamily="34" charset="-122"/>
                <a:cs typeface="DM Sans" pitchFamily="34" charset="-120"/>
              </a:rPr>
              <a:t>These are associations, not proof of cause.</a:t>
            </a:r>
            <a:endParaRPr lang="en-US" sz="1600" dirty="0"/>
          </a:p>
        </p:txBody>
      </p:sp>
      <p:pic>
        <p:nvPicPr>
          <p:cNvPr id="4" name="Image 0" descr="Logistic regression coefficients ranked by size">    </p:cNvPr>
          <p:cNvPicPr>
            <a:picLocks noChangeAspect="1"/>
          </p:cNvPicPr>
          <p:nvPr/>
        </p:nvPicPr>
        <p:blipFill>
          <a:blip r:embed="rId1"/>
          <a:srcRect l="32" r="32" t="0" b="0"/>
          <a:stretch/>
        </p:blipFill>
        <p:spPr>
          <a:xfrm>
            <a:off x="6483350" y="1244600"/>
            <a:ext cx="4895850" cy="4064000"/>
          </a:xfrm>
          <a:prstGeom prst="roundRect">
            <a:avLst>
              <a:gd name="adj" fmla="val 1875"/>
            </a:avLst>
          </a:prstGeom>
        </p:spPr>
      </p:pic>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Customer Churn Prediction | NexAfrica ML Internship</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430"/>
                </a:solidFill>
                <a:latin typeface="DM Sans" pitchFamily="34" charset="0"/>
                <a:ea typeface="DM Sans" pitchFamily="34" charset="-122"/>
                <a:cs typeface="DM Sans" pitchFamily="34" charset="-120"/>
              </a:rPr>
              <a:t>Six actions for the retention team</a:t>
            </a:r>
            <a:endParaRPr lang="en-US" sz="3200" dirty="0"/>
          </a:p>
        </p:txBody>
      </p:sp>
      <p:sp>
        <p:nvSpPr>
          <p:cNvPr id="3" name="Shape 1"/>
          <p:cNvSpPr/>
          <p:nvPr/>
        </p:nvSpPr>
        <p:spPr>
          <a:xfrm>
            <a:off x="815975" y="3043634"/>
            <a:ext cx="5200650" cy="754360"/>
          </a:xfrm>
          <a:prstGeom prst="roundRect">
            <a:avLst>
              <a:gd name="adj" fmla="val 13047"/>
            </a:avLst>
          </a:prstGeom>
          <a:solidFill>
            <a:srgbClr val="FFFFFF"/>
          </a:solidFill>
          <a:ln w="6350">
            <a:solidFill>
              <a:srgbClr val="E3DFD5"/>
            </a:solidFill>
            <a:prstDash val="solid"/>
          </a:ln>
        </p:spPr>
      </p:sp>
      <p:sp>
        <p:nvSpPr>
          <p:cNvPr id="4" name="Text 2"/>
          <p:cNvSpPr/>
          <p:nvPr/>
        </p:nvSpPr>
        <p:spPr>
          <a:xfrm>
            <a:off x="1022350" y="3199209"/>
            <a:ext cx="493153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9501F"/>
                </a:solidFill>
                <a:latin typeface="DM Sans" pitchFamily="34" charset="0"/>
                <a:ea typeface="DM Sans" pitchFamily="34" charset="-122"/>
                <a:cs typeface="DM Sans" pitchFamily="34" charset="-120"/>
              </a:rPr>
              <a:t>Move customers to longer contracts</a:t>
            </a:r>
            <a:endParaRPr lang="en-US" sz="1500" dirty="0"/>
          </a:p>
        </p:txBody>
      </p:sp>
      <p:sp>
        <p:nvSpPr>
          <p:cNvPr id="5" name="Text 3"/>
          <p:cNvSpPr/>
          <p:nvPr/>
        </p:nvSpPr>
        <p:spPr>
          <a:xfrm>
            <a:off x="1022350" y="3427809"/>
            <a:ext cx="499110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C5662"/>
                </a:solidFill>
                <a:latin typeface="DM Sans" pitchFamily="34" charset="0"/>
                <a:ea typeface="DM Sans" pitchFamily="34" charset="-122"/>
                <a:cs typeface="DM Sans" pitchFamily="34" charset="-120"/>
              </a:rPr>
              <a:t>Churn is 42.7% month-to-month and 2.8% on two-year plans.</a:t>
            </a:r>
            <a:endParaRPr lang="en-US" sz="1300" dirty="0"/>
          </a:p>
        </p:txBody>
      </p:sp>
      <p:sp>
        <p:nvSpPr>
          <p:cNvPr id="6" name="Shape 4"/>
          <p:cNvSpPr/>
          <p:nvPr/>
        </p:nvSpPr>
        <p:spPr>
          <a:xfrm>
            <a:off x="6175375" y="3043634"/>
            <a:ext cx="5200650" cy="754360"/>
          </a:xfrm>
          <a:prstGeom prst="roundRect">
            <a:avLst>
              <a:gd name="adj" fmla="val 13047"/>
            </a:avLst>
          </a:prstGeom>
          <a:solidFill>
            <a:srgbClr val="FFFFFF"/>
          </a:solidFill>
          <a:ln w="6350">
            <a:solidFill>
              <a:srgbClr val="E3DFD5"/>
            </a:solidFill>
            <a:prstDash val="solid"/>
          </a:ln>
        </p:spPr>
      </p:sp>
      <p:sp>
        <p:nvSpPr>
          <p:cNvPr id="7" name="Text 5"/>
          <p:cNvSpPr/>
          <p:nvPr/>
        </p:nvSpPr>
        <p:spPr>
          <a:xfrm>
            <a:off x="6381750" y="3199209"/>
            <a:ext cx="493153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9501F"/>
                </a:solidFill>
                <a:latin typeface="DM Sans" pitchFamily="34" charset="0"/>
                <a:ea typeface="DM Sans" pitchFamily="34" charset="-122"/>
                <a:cs typeface="DM Sans" pitchFamily="34" charset="-120"/>
              </a:rPr>
              <a:t>Encourage automatic payment</a:t>
            </a:r>
            <a:endParaRPr lang="en-US" sz="1500" dirty="0"/>
          </a:p>
        </p:txBody>
      </p:sp>
      <p:sp>
        <p:nvSpPr>
          <p:cNvPr id="8" name="Text 6"/>
          <p:cNvSpPr/>
          <p:nvPr/>
        </p:nvSpPr>
        <p:spPr>
          <a:xfrm>
            <a:off x="6381750" y="3427809"/>
            <a:ext cx="493153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C5662"/>
                </a:solidFill>
                <a:latin typeface="DM Sans" pitchFamily="34" charset="0"/>
                <a:ea typeface="DM Sans" pitchFamily="34" charset="-122"/>
                <a:cs typeface="DM Sans" pitchFamily="34" charset="-120"/>
              </a:rPr>
              <a:t>Electronic check payers churn at 45.3%.</a:t>
            </a:r>
            <a:endParaRPr lang="en-US" sz="1300" dirty="0"/>
          </a:p>
        </p:txBody>
      </p:sp>
      <p:sp>
        <p:nvSpPr>
          <p:cNvPr id="9" name="Shape 7"/>
          <p:cNvSpPr/>
          <p:nvPr/>
        </p:nvSpPr>
        <p:spPr>
          <a:xfrm>
            <a:off x="815975" y="3956745"/>
            <a:ext cx="5200650" cy="754360"/>
          </a:xfrm>
          <a:prstGeom prst="roundRect">
            <a:avLst>
              <a:gd name="adj" fmla="val 13047"/>
            </a:avLst>
          </a:prstGeom>
          <a:solidFill>
            <a:srgbClr val="FFFFFF"/>
          </a:solidFill>
          <a:ln w="6350">
            <a:solidFill>
              <a:srgbClr val="E3DFD5"/>
            </a:solidFill>
            <a:prstDash val="solid"/>
          </a:ln>
        </p:spPr>
      </p:sp>
      <p:sp>
        <p:nvSpPr>
          <p:cNvPr id="10" name="Text 8"/>
          <p:cNvSpPr/>
          <p:nvPr/>
        </p:nvSpPr>
        <p:spPr>
          <a:xfrm>
            <a:off x="1022350" y="4112320"/>
            <a:ext cx="493153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9501F"/>
                </a:solidFill>
                <a:latin typeface="DM Sans" pitchFamily="34" charset="0"/>
                <a:ea typeface="DM Sans" pitchFamily="34" charset="-122"/>
                <a:cs typeface="DM Sans" pitchFamily="34" charset="-120"/>
              </a:rPr>
              <a:t>Review fiber optic quality and price</a:t>
            </a:r>
            <a:endParaRPr lang="en-US" sz="1500" dirty="0"/>
          </a:p>
        </p:txBody>
      </p:sp>
      <p:sp>
        <p:nvSpPr>
          <p:cNvPr id="11" name="Text 9"/>
          <p:cNvSpPr/>
          <p:nvPr/>
        </p:nvSpPr>
        <p:spPr>
          <a:xfrm>
            <a:off x="1022350" y="4340920"/>
            <a:ext cx="493153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C5662"/>
                </a:solidFill>
                <a:latin typeface="DM Sans" pitchFamily="34" charset="0"/>
                <a:ea typeface="DM Sans" pitchFamily="34" charset="-122"/>
                <a:cs typeface="DM Sans" pitchFamily="34" charset="-120"/>
              </a:rPr>
              <a:t>41.9% of fiber customers leave.</a:t>
            </a:r>
            <a:endParaRPr lang="en-US" sz="1300" dirty="0"/>
          </a:p>
        </p:txBody>
      </p:sp>
      <p:sp>
        <p:nvSpPr>
          <p:cNvPr id="12" name="Shape 10"/>
          <p:cNvSpPr/>
          <p:nvPr/>
        </p:nvSpPr>
        <p:spPr>
          <a:xfrm>
            <a:off x="6175375" y="3956745"/>
            <a:ext cx="5200650" cy="754360"/>
          </a:xfrm>
          <a:prstGeom prst="roundRect">
            <a:avLst>
              <a:gd name="adj" fmla="val 13047"/>
            </a:avLst>
          </a:prstGeom>
          <a:solidFill>
            <a:srgbClr val="FFFFFF"/>
          </a:solidFill>
          <a:ln w="6350">
            <a:solidFill>
              <a:srgbClr val="E3DFD5"/>
            </a:solidFill>
            <a:prstDash val="solid"/>
          </a:ln>
        </p:spPr>
      </p:sp>
      <p:sp>
        <p:nvSpPr>
          <p:cNvPr id="13" name="Text 11"/>
          <p:cNvSpPr/>
          <p:nvPr/>
        </p:nvSpPr>
        <p:spPr>
          <a:xfrm>
            <a:off x="6381750" y="4112320"/>
            <a:ext cx="493153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9501F"/>
                </a:solidFill>
                <a:latin typeface="DM Sans" pitchFamily="34" charset="0"/>
                <a:ea typeface="DM Sans" pitchFamily="34" charset="-122"/>
                <a:cs typeface="DM Sans" pitchFamily="34" charset="-120"/>
              </a:rPr>
              <a:t>Invest in the first year</a:t>
            </a:r>
            <a:endParaRPr lang="en-US" sz="1500" dirty="0"/>
          </a:p>
        </p:txBody>
      </p:sp>
      <p:sp>
        <p:nvSpPr>
          <p:cNvPr id="14" name="Text 12"/>
          <p:cNvSpPr/>
          <p:nvPr/>
        </p:nvSpPr>
        <p:spPr>
          <a:xfrm>
            <a:off x="6381750" y="4340920"/>
            <a:ext cx="499110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C5662"/>
                </a:solidFill>
                <a:latin typeface="DM Sans" pitchFamily="34" charset="0"/>
                <a:ea typeface="DM Sans" pitchFamily="34" charset="-122"/>
                <a:cs typeface="DM Sans" pitchFamily="34" charset="-120"/>
              </a:rPr>
              <a:t>Churners' median tenure is 10 months, so onboarding matters.</a:t>
            </a:r>
            <a:endParaRPr lang="en-US" sz="1300" dirty="0"/>
          </a:p>
        </p:txBody>
      </p:sp>
      <p:sp>
        <p:nvSpPr>
          <p:cNvPr id="15" name="Shape 13"/>
          <p:cNvSpPr/>
          <p:nvPr/>
        </p:nvSpPr>
        <p:spPr>
          <a:xfrm>
            <a:off x="815975" y="4869855"/>
            <a:ext cx="5200650" cy="968970"/>
          </a:xfrm>
          <a:prstGeom prst="roundRect">
            <a:avLst>
              <a:gd name="adj" fmla="val 10158"/>
            </a:avLst>
          </a:prstGeom>
          <a:solidFill>
            <a:srgbClr val="FFFFFF"/>
          </a:solidFill>
          <a:ln w="6350">
            <a:solidFill>
              <a:srgbClr val="E3DFD5"/>
            </a:solidFill>
            <a:prstDash val="solid"/>
          </a:ln>
        </p:spPr>
      </p:sp>
      <p:sp>
        <p:nvSpPr>
          <p:cNvPr id="16" name="Text 14"/>
          <p:cNvSpPr/>
          <p:nvPr/>
        </p:nvSpPr>
        <p:spPr>
          <a:xfrm>
            <a:off x="1022350" y="5025430"/>
            <a:ext cx="493153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9501F"/>
                </a:solidFill>
                <a:latin typeface="DM Sans" pitchFamily="34" charset="0"/>
                <a:ea typeface="DM Sans" pitchFamily="34" charset="-122"/>
                <a:cs typeface="DM Sans" pitchFamily="34" charset="-120"/>
              </a:rPr>
              <a:t>Bundle support and security</a:t>
            </a:r>
            <a:endParaRPr lang="en-US" sz="1500" dirty="0"/>
          </a:p>
        </p:txBody>
      </p:sp>
      <p:sp>
        <p:nvSpPr>
          <p:cNvPr id="17" name="Text 15"/>
          <p:cNvSpPr/>
          <p:nvPr/>
        </p:nvSpPr>
        <p:spPr>
          <a:xfrm>
            <a:off x="1022350" y="5254030"/>
            <a:ext cx="4931537"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C5662"/>
                </a:solidFill>
                <a:latin typeface="DM Sans" pitchFamily="34" charset="0"/>
                <a:ea typeface="DM Sans" pitchFamily="34" charset="-122"/>
                <a:cs typeface="DM Sans" pitchFamily="34" charset="-120"/>
              </a:rPr>
              <a:t>Customers with these add-ons churn about 15%, versus 42% without.</a:t>
            </a:r>
            <a:endParaRPr lang="en-US" sz="1300" dirty="0"/>
          </a:p>
        </p:txBody>
      </p:sp>
      <p:sp>
        <p:nvSpPr>
          <p:cNvPr id="18" name="Shape 16"/>
          <p:cNvSpPr/>
          <p:nvPr/>
        </p:nvSpPr>
        <p:spPr>
          <a:xfrm>
            <a:off x="6175375" y="4869855"/>
            <a:ext cx="5200650" cy="968970"/>
          </a:xfrm>
          <a:prstGeom prst="roundRect">
            <a:avLst>
              <a:gd name="adj" fmla="val 10158"/>
            </a:avLst>
          </a:prstGeom>
          <a:solidFill>
            <a:srgbClr val="FFFFFF"/>
          </a:solidFill>
          <a:ln w="6350">
            <a:solidFill>
              <a:srgbClr val="E3DFD5"/>
            </a:solidFill>
            <a:prstDash val="solid"/>
          </a:ln>
        </p:spPr>
      </p:sp>
      <p:sp>
        <p:nvSpPr>
          <p:cNvPr id="19" name="Text 17"/>
          <p:cNvSpPr/>
          <p:nvPr/>
        </p:nvSpPr>
        <p:spPr>
          <a:xfrm>
            <a:off x="6381750" y="5025430"/>
            <a:ext cx="493153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9501F"/>
                </a:solidFill>
                <a:latin typeface="DM Sans" pitchFamily="34" charset="0"/>
                <a:ea typeface="DM Sans" pitchFamily="34" charset="-122"/>
                <a:cs typeface="DM Sans" pitchFamily="34" charset="-120"/>
              </a:rPr>
              <a:t>Spend by churn probability</a:t>
            </a:r>
            <a:endParaRPr lang="en-US" sz="1500" dirty="0"/>
          </a:p>
        </p:txBody>
      </p:sp>
      <p:sp>
        <p:nvSpPr>
          <p:cNvPr id="20" name="Text 18"/>
          <p:cNvSpPr/>
          <p:nvPr/>
        </p:nvSpPr>
        <p:spPr>
          <a:xfrm>
            <a:off x="6381750" y="5254030"/>
            <a:ext cx="4931537"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C5662"/>
                </a:solidFill>
                <a:latin typeface="DM Sans" pitchFamily="34" charset="0"/>
                <a:ea typeface="DM Sans" pitchFamily="34" charset="-122"/>
                <a:cs typeface="DM Sans" pitchFamily="34" charset="-120"/>
              </a:rPr>
              <a:t>Rank customers with the model and offer to the highest risks first.</a:t>
            </a:r>
            <a:endParaRPr lang="en-US" sz="1300" dirty="0"/>
          </a:p>
        </p:txBody>
      </p:sp>
      <p:sp>
        <p:nvSpPr>
          <p:cNvPr id="21" name="Text 1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Customer Churn Prediction | NexAfrica ML Internship</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02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EEE8"/>
                </a:solidFill>
                <a:latin typeface="DM Sans" pitchFamily="34" charset="0"/>
                <a:ea typeface="DM Sans" pitchFamily="34" charset="-122"/>
                <a:cs typeface="DM Sans" pitchFamily="34" charset="-120"/>
              </a:rPr>
              <a:t>Limits and next steps</a:t>
            </a:r>
            <a:endParaRPr lang="en-US" sz="3600" dirty="0"/>
          </a:p>
        </p:txBody>
      </p:sp>
      <p:sp>
        <p:nvSpPr>
          <p:cNvPr id="3" name="Shape 1"/>
          <p:cNvSpPr/>
          <p:nvPr/>
        </p:nvSpPr>
        <p:spPr>
          <a:xfrm>
            <a:off x="812800" y="2407940"/>
            <a:ext cx="5181600" cy="1950641"/>
          </a:xfrm>
          <a:prstGeom prst="roundRect">
            <a:avLst>
              <a:gd name="adj" fmla="val 5209"/>
            </a:avLst>
          </a:prstGeom>
          <a:solidFill>
            <a:srgbClr val="1F3045"/>
          </a:solidFill>
          <a:ln/>
        </p:spPr>
      </p:sp>
      <p:sp>
        <p:nvSpPr>
          <p:cNvPr id="4" name="Text 2"/>
          <p:cNvSpPr/>
          <p:nvPr/>
        </p:nvSpPr>
        <p:spPr>
          <a:xfrm>
            <a:off x="1066800" y="2661940"/>
            <a:ext cx="48138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B6834"/>
                </a:solidFill>
                <a:latin typeface="DM Sans" pitchFamily="34" charset="0"/>
                <a:ea typeface="DM Sans" pitchFamily="34" charset="-122"/>
                <a:cs typeface="DM Sans" pitchFamily="34" charset="-120"/>
              </a:rPr>
              <a:t>Limits to keep in mind</a:t>
            </a:r>
            <a:endParaRPr lang="en-US" sz="1800" dirty="0"/>
          </a:p>
        </p:txBody>
      </p:sp>
      <p:sp>
        <p:nvSpPr>
          <p:cNvPr id="5" name="Text 3"/>
          <p:cNvSpPr/>
          <p:nvPr/>
        </p:nvSpPr>
        <p:spPr>
          <a:xfrm>
            <a:off x="1066800" y="3037780"/>
            <a:ext cx="4813808"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5DBE2"/>
                </a:solidFill>
                <a:latin typeface="DM Sans" pitchFamily="34" charset="0"/>
                <a:ea typeface="DM Sans" pitchFamily="34" charset="-122"/>
                <a:cs typeface="DM Sans" pitchFamily="34" charset="-120"/>
              </a:rPr>
              <a:t>Precision is about 50%, so half of the flagged customers would have stayed. Findings show association, not cause. Scaling was applied before the split, which can leak a little information.</a:t>
            </a:r>
            <a:endParaRPr lang="en-US" sz="1500" dirty="0"/>
          </a:p>
        </p:txBody>
      </p:sp>
      <p:sp>
        <p:nvSpPr>
          <p:cNvPr id="6" name="Shape 4"/>
          <p:cNvSpPr/>
          <p:nvPr/>
        </p:nvSpPr>
        <p:spPr>
          <a:xfrm>
            <a:off x="6197600" y="2407940"/>
            <a:ext cx="5181600" cy="1950641"/>
          </a:xfrm>
          <a:prstGeom prst="roundRect">
            <a:avLst>
              <a:gd name="adj" fmla="val 5209"/>
            </a:avLst>
          </a:prstGeom>
          <a:solidFill>
            <a:srgbClr val="1F3045"/>
          </a:solidFill>
          <a:ln/>
        </p:spPr>
      </p:sp>
      <p:sp>
        <p:nvSpPr>
          <p:cNvPr id="7" name="Text 5"/>
          <p:cNvSpPr/>
          <p:nvPr/>
        </p:nvSpPr>
        <p:spPr>
          <a:xfrm>
            <a:off x="6451600" y="2661940"/>
            <a:ext cx="48138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B6834"/>
                </a:solidFill>
                <a:latin typeface="DM Sans" pitchFamily="34" charset="0"/>
                <a:ea typeface="DM Sans" pitchFamily="34" charset="-122"/>
                <a:cs typeface="DM Sans" pitchFamily="34" charset="-120"/>
              </a:rPr>
              <a:t>Next steps</a:t>
            </a:r>
            <a:endParaRPr lang="en-US" sz="1800" dirty="0"/>
          </a:p>
        </p:txBody>
      </p:sp>
      <p:sp>
        <p:nvSpPr>
          <p:cNvPr id="8" name="Text 6"/>
          <p:cNvSpPr/>
          <p:nvPr/>
        </p:nvSpPr>
        <p:spPr>
          <a:xfrm>
            <a:off x="6451600" y="3037780"/>
            <a:ext cx="4813808"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5DBE2"/>
                </a:solidFill>
                <a:latin typeface="DM Sans" pitchFamily="34" charset="0"/>
                <a:ea typeface="DM Sans" pitchFamily="34" charset="-122"/>
                <a:cs typeface="DM Sans" pitchFamily="34" charset="-120"/>
              </a:rPr>
              <a:t>Tune the decision threshold to the cost of an offer. Try gradient boosting such as XGBoost. Pilot the retention actions on a small group and measure the result.</a:t>
            </a:r>
            <a:endParaRPr lang="en-US" sz="1500" dirty="0"/>
          </a:p>
        </p:txBody>
      </p:sp>
      <p:sp>
        <p:nvSpPr>
          <p:cNvPr id="9" name="Text 7"/>
          <p:cNvSpPr/>
          <p:nvPr/>
        </p:nvSpPr>
        <p:spPr>
          <a:xfrm>
            <a:off x="812800" y="545088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1EEE8"/>
                </a:solidFill>
                <a:latin typeface="DM Sans" pitchFamily="34" charset="0"/>
                <a:ea typeface="DM Sans" pitchFamily="34" charset="-122"/>
                <a:cs typeface="DM Sans" pitchFamily="34" charset="-120"/>
              </a:rPr>
              <a:t>Thank you. Questions?</a:t>
            </a:r>
            <a:endParaRPr lang="en-US" sz="22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2CC"/>
                </a:solidFill>
                <a:latin typeface="DM Sans" pitchFamily="34" charset="0"/>
                <a:ea typeface="DM Sans" pitchFamily="34" charset="-122"/>
                <a:cs typeface="DM Sans" pitchFamily="34" charset="-120"/>
              </a:rPr>
              <a:t>Customer Churn Prediction | NexAfrica ML Internship</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2CC"/>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theme/theme1.xml><?xml version="1.0" encoding="utf-8"?>
<a:theme xmlns:a="http://schemas.openxmlformats.org/drawingml/2006/main" name="Customer Churn Prediction">
  <a:themeElements>
    <a:clrScheme name="Customer Churn Prediction">
      <a:dk1>
        <a:srgbClr val="1B2430"/>
      </a:dk1>
      <a:lt1>
        <a:srgbClr val="F6F4EF"/>
      </a:lt1>
      <a:dk2>
        <a:srgbClr val="525860"/>
      </a:dk2>
      <a:lt2>
        <a:srgbClr val="E0DFDC"/>
      </a:lt2>
      <a:accent1>
        <a:srgbClr val="EB6834"/>
      </a:accent1>
      <a:accent2>
        <a:srgbClr val="C9501F"/>
      </a:accent2>
      <a:accent3>
        <a:srgbClr val="2A78D6"/>
      </a:accent3>
      <a:accent4>
        <a:srgbClr val="4C5662"/>
      </a:accent4>
      <a:accent5>
        <a:srgbClr val="6A7179"/>
      </a:accent5>
      <a:accent6>
        <a:srgbClr val="D5DBE2"/>
      </a:accent6>
      <a:hlink>
        <a:srgbClr val="0563C1"/>
      </a:hlink>
      <a:folHlink>
        <a:srgbClr val="954F72"/>
      </a:folHlink>
    </a:clrScheme>
    <a:fontScheme name="Customer Churn Prediction">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Prediction</dc:title>
  <dc:subject/>
  <dc:creator/>
  <cp:lastModifiedBy/>
  <cp:revision>1</cp:revision>
  <dcterms:created xsi:type="dcterms:W3CDTF">2026-10-11T10:37:23Z</dcterms:created>
  <dcterms:modified xsi:type="dcterms:W3CDTF">2026-10-11T10:37:23Z</dcterms:modified>
</cp:coreProperties>
</file>